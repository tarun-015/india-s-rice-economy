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Area CAGR %</c:v>
                </c:pt>
              </c:strCache>
            </c:strRef>
          </c:tx>
          <c:spPr>
            <a:solidFill>
              <a:srgbClr val="97BC62"/>
            </a:solidFill>
            <a:effectLst/>
          </c:spPr>
          <c:invertIfNegative val="0"/>
          <c:dLbls>
            <c:numFmt formatCode="0.00" sourceLinked="0"/>
            <c:txPr>
              <a:bodyPr/>
              <a:lstStyle/>
              <a:p>
                <a:pPr>
                  <a:defRPr b="0" i="0" strike="noStrike" sz="850" u="none">
                    <a:solidFill>
                      <a:srgbClr val="1C2419"/>
                    </a:solidFill>
                    <a:latin typeface="Arial"/>
                  </a:defRPr>
                </a:pPr>
              </a:p>
            </c:txPr>
            <c:showLegendKey val="0"/>
            <c:showVal val="1"/>
            <c:showCatName val="0"/>
            <c:showSerName val="0"/>
            <c:showPercent val="0"/>
            <c:showBubbleSize val="0"/>
            <c:showLeaderLines val="0"/>
          </c:dLbls>
          <c:cat>
            <c:multiLvlStrRef>
              <c:f>Sheet1!$A$2:$A$6</c:f>
              <c:multiLvlStrCache>
                <c:ptCount val="5"/>
                <c:lvl>
                  <c:pt idx="0">
                    <c:v>1950-65
Pre-Green Rev</c:v>
                  </c:pt>
                  <c:pt idx="1">
                    <c:v>1965-75
Green Revolution</c:v>
                  </c:pt>
                  <c:pt idx="2">
                    <c:v>1975-90
Early MSP</c:v>
                  </c:pt>
                  <c:pt idx="3">
                    <c:v>1991-2010
Liberalisation</c:v>
                  </c:pt>
                  <c:pt idx="4">
                    <c:v>2011-25
Recent</c:v>
                  </c:pt>
                </c:lvl>
              </c:multiLvlStrCache>
            </c:multiLvlStrRef>
          </c:cat>
          <c:val>
            <c:numRef>
              <c:f>Sheet1!$B$2:$B$6</c:f>
              <c:numCache>
                <c:formatCode>General</c:formatCode>
                <c:ptCount val="5"/>
                <c:pt idx="0">
                  <c:v>0.94</c:v>
                </c:pt>
                <c:pt idx="1">
                  <c:v>1.08</c:v>
                </c:pt>
                <c:pt idx="2">
                  <c:v>0.52</c:v>
                </c:pt>
                <c:pt idx="3">
                  <c:v>0.03</c:v>
                </c:pt>
                <c:pt idx="4">
                  <c:v>1.31</c:v>
                </c:pt>
              </c:numCache>
            </c:numRef>
          </c:val>
        </c:ser>
        <c:ser>
          <c:idx val="1"/>
          <c:order val="1"/>
          <c:tx>
            <c:strRef>
              <c:f>Sheet1!$C$1</c:f>
              <c:strCache>
                <c:ptCount val="1"/>
                <c:pt idx="0">
                  <c:v>Yield CAGR %</c:v>
                </c:pt>
              </c:strCache>
            </c:strRef>
          </c:tx>
          <c:spPr>
            <a:solidFill>
              <a:srgbClr val="1E4620"/>
            </a:solidFill>
            <a:effectLst/>
          </c:spPr>
          <c:invertIfNegative val="0"/>
          <c:dLbls>
            <c:numFmt formatCode="0.00" sourceLinked="0"/>
            <c:txPr>
              <a:bodyPr/>
              <a:lstStyle/>
              <a:p>
                <a:pPr>
                  <a:defRPr b="0" i="0" strike="noStrike" sz="850" u="none">
                    <a:solidFill>
                      <a:srgbClr val="1C2419"/>
                    </a:solidFill>
                    <a:latin typeface="Arial"/>
                  </a:defRPr>
                </a:pPr>
              </a:p>
            </c:txPr>
            <c:showLegendKey val="0"/>
            <c:showVal val="1"/>
            <c:showCatName val="0"/>
            <c:showSerName val="0"/>
            <c:showPercent val="0"/>
            <c:showBubbleSize val="0"/>
            <c:showLeaderLines val="0"/>
          </c:dLbls>
          <c:cat>
            <c:multiLvlStrRef>
              <c:f>Sheet1!$A$2:$A$6</c:f>
              <c:multiLvlStrCache>
                <c:ptCount val="5"/>
                <c:lvl>
                  <c:pt idx="0">
                    <c:v>1950-65
Pre-Green Rev</c:v>
                  </c:pt>
                  <c:pt idx="1">
                    <c:v>1965-75
Green Revolution</c:v>
                  </c:pt>
                  <c:pt idx="2">
                    <c:v>1975-90
Early MSP</c:v>
                  </c:pt>
                  <c:pt idx="3">
                    <c:v>1991-2010
Liberalisation</c:v>
                  </c:pt>
                  <c:pt idx="4">
                    <c:v>2011-25
Recent</c:v>
                  </c:pt>
                </c:lvl>
              </c:multiLvlStrCache>
            </c:multiLvlStrRef>
          </c:cat>
          <c:val>
            <c:numRef>
              <c:f>Sheet1!$C$2:$C$6</c:f>
              <c:numCache>
                <c:formatCode>General</c:formatCode>
                <c:ptCount val="5"/>
                <c:pt idx="0">
                  <c:v>1.71</c:v>
                </c:pt>
                <c:pt idx="1">
                  <c:v>3.66</c:v>
                </c:pt>
                <c:pt idx="2">
                  <c:v>2.31</c:v>
                </c:pt>
                <c:pt idx="3">
                  <c:v>1.3</c:v>
                </c:pt>
                <c:pt idx="4">
                  <c:v>1.42</c:v>
                </c:pt>
              </c:numCache>
            </c:numRef>
          </c:val>
        </c:ser>
        <c:dLbls>
          <c:numFmt formatCode="0.00" sourceLinked="0"/>
          <c:txPr>
            <a:bodyPr/>
            <a:lstStyle/>
            <a:p>
              <a:pPr>
                <a:defRPr b="0" i="0" strike="noStrike" sz="850" u="none">
                  <a:solidFill>
                    <a:srgbClr val="1C2419"/>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20" b="0" i="0" u="none" strike="noStrike">
                <a:solidFill>
                  <a:srgbClr val="1C2419"/>
                </a:solidFill>
                <a:latin typeface="Arial"/>
              </a:defRPr>
            </a:pPr>
            <a:endParaRPr lang="en-US"/>
          </a:p>
        </c:txPr>
        <c:crossAx val="2094734552"/>
        <c:crosses val="autoZero"/>
        <c:auto val="1"/>
        <c:lblAlgn val="ctr"/>
        <c:noMultiLvlLbl val="1"/>
      </c:catAx>
      <c:valAx>
        <c:axId val="2094734552"/>
        <c:scaling>
          <c:orientation val="minMax"/>
          <c:max val="4"/>
        </c:scaling>
        <c:delete val="0"/>
        <c:axPos val="l"/>
        <c:majorGridlines>
          <c:spPr>
            <a:ln w="12700" cap="flat">
              <a:solidFill>
                <a:srgbClr val="DCE3D6"/>
              </a:solidFill>
              <a:prstDash val="solid"/>
              <a:round/>
            </a:ln>
          </c:spPr>
        </c:majorGridlines>
        <c:title>
          <c:tx>
            <c:rich>
              <a:bodyPr/>
              <a:lstStyle/>
              <a:p>
                <a:pPr>
                  <a:defRPr sz="900" b="0" i="0" u="none" strike="noStrike">
                    <a:solidFill>
                      <a:srgbClr val="6E7A66"/>
                    </a:solidFill>
                    <a:latin typeface="Arial"/>
                  </a:defRPr>
                </a:pPr>
                <a:r>
                  <a:rPr sz="900" b="0" i="0" u="none" strike="noStrike">
                    <a:solidFill>
                      <a:srgbClr val="6E7A66"/>
                    </a:solidFill>
                    <a:latin typeface="Arial"/>
                  </a:rPr>
                  <a:t>CAGR, % per year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E7A66"/>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50">
              <a:solidFill>
                <a:srgbClr val="1C2419"/>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Raw levels (both trending)</c:v>
                </c:pt>
              </c:strCache>
            </c:strRef>
          </c:tx>
          <c:spPr>
            <a:solidFill>
              <a:srgbClr val="97BC62"/>
            </a:solidFill>
            <a:effectLst/>
          </c:spPr>
          <c:invertIfNegative val="0"/>
          <c:dLbls>
            <c:numFmt formatCode="0.000" sourceLinked="0"/>
            <c:txPr>
              <a:bodyPr/>
              <a:lstStyle/>
              <a:p>
                <a:pPr>
                  <a:defRPr b="0" i="0" strike="noStrike" sz="900" u="none">
                    <a:solidFill>
                      <a:srgbClr val="1C2419"/>
                    </a:solidFill>
                    <a:latin typeface="Arial"/>
                  </a:defRPr>
                </a:pPr>
              </a:p>
            </c:txPr>
            <c:showLegendKey val="0"/>
            <c:showVal val="1"/>
            <c:showCatName val="0"/>
            <c:showSerName val="0"/>
            <c:showPercent val="0"/>
            <c:showBubbleSize val="0"/>
            <c:showLeaderLines val="0"/>
          </c:dLbls>
          <c:cat>
            <c:multiLvlStrRef>
              <c:f>Sheet1!$A$2:$A$4</c:f>
              <c:multiLvlStrCache>
                <c:ptCount val="3"/>
                <c:lvl>
                  <c:pt idx="0">
                    <c:v>MSP ~ Production</c:v>
                  </c:pt>
                  <c:pt idx="1">
                    <c:v>Area ~ Yield</c:v>
                  </c:pt>
                  <c:pt idx="2">
                    <c:v>Yield ~ Production</c:v>
                  </c:pt>
                </c:lvl>
              </c:multiLvlStrCache>
            </c:multiLvlStrRef>
          </c:cat>
          <c:val>
            <c:numRef>
              <c:f>Sheet1!$B$2:$B$4</c:f>
              <c:numCache>
                <c:formatCode>General</c:formatCode>
                <c:ptCount val="3"/>
                <c:pt idx="0">
                  <c:v>0.949</c:v>
                </c:pt>
                <c:pt idx="1">
                  <c:v>0.847</c:v>
                </c:pt>
                <c:pt idx="2">
                  <c:v>0.988</c:v>
                </c:pt>
              </c:numCache>
            </c:numRef>
          </c:val>
        </c:ser>
        <c:ser>
          <c:idx val="1"/>
          <c:order val="1"/>
          <c:tx>
            <c:strRef>
              <c:f>Sheet1!$C$1</c:f>
              <c:strCache>
                <c:ptCount val="1"/>
                <c:pt idx="0">
                  <c:v>Year-on-year changes (detrended)</c:v>
                </c:pt>
              </c:strCache>
            </c:strRef>
          </c:tx>
          <c:spPr>
            <a:solidFill>
              <a:srgbClr val="1E4620"/>
            </a:solidFill>
            <a:effectLst/>
          </c:spPr>
          <c:invertIfNegative val="0"/>
          <c:dLbls>
            <c:numFmt formatCode="0.000" sourceLinked="0"/>
            <c:txPr>
              <a:bodyPr/>
              <a:lstStyle/>
              <a:p>
                <a:pPr>
                  <a:defRPr b="0" i="0" strike="noStrike" sz="900" u="none">
                    <a:solidFill>
                      <a:srgbClr val="1C2419"/>
                    </a:solidFill>
                    <a:latin typeface="Arial"/>
                  </a:defRPr>
                </a:pPr>
              </a:p>
            </c:txPr>
            <c:showLegendKey val="0"/>
            <c:showVal val="1"/>
            <c:showCatName val="0"/>
            <c:showSerName val="0"/>
            <c:showPercent val="0"/>
            <c:showBubbleSize val="0"/>
            <c:showLeaderLines val="0"/>
          </c:dLbls>
          <c:cat>
            <c:multiLvlStrRef>
              <c:f>Sheet1!$A$2:$A$4</c:f>
              <c:multiLvlStrCache>
                <c:ptCount val="3"/>
                <c:lvl>
                  <c:pt idx="0">
                    <c:v>MSP ~ Production</c:v>
                  </c:pt>
                  <c:pt idx="1">
                    <c:v>Area ~ Yield</c:v>
                  </c:pt>
                  <c:pt idx="2">
                    <c:v>Yield ~ Production</c:v>
                  </c:pt>
                </c:lvl>
              </c:multiLvlStrCache>
            </c:multiLvlStrRef>
          </c:cat>
          <c:val>
            <c:numRef>
              <c:f>Sheet1!$C$2:$C$4</c:f>
              <c:numCache>
                <c:formatCode>General</c:formatCode>
                <c:ptCount val="3"/>
                <c:pt idx="0">
                  <c:v>0.018</c:v>
                </c:pt>
                <c:pt idx="1">
                  <c:v>0.594</c:v>
                </c:pt>
                <c:pt idx="2">
                  <c:v>0.966</c:v>
                </c:pt>
              </c:numCache>
            </c:numRef>
          </c:val>
        </c:ser>
        <c:dLbls>
          <c:numFmt formatCode="0.000" sourceLinked="0"/>
          <c:txPr>
            <a:bodyPr/>
            <a:lstStyle/>
            <a:p>
              <a:pPr>
                <a:defRPr b="0" i="0" strike="noStrike" sz="900" u="none">
                  <a:solidFill>
                    <a:srgbClr val="1C2419"/>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C2419"/>
                </a:solidFill>
                <a:latin typeface="Arial"/>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12700" cap="flat">
              <a:solidFill>
                <a:srgbClr val="DCE3D6"/>
              </a:solidFill>
              <a:prstDash val="solid"/>
              <a:round/>
            </a:ln>
          </c:spPr>
        </c:majorGridlines>
        <c:title>
          <c:tx>
            <c:rich>
              <a:bodyPr/>
              <a:lstStyle/>
              <a:p>
                <a:pPr>
                  <a:defRPr sz="900" b="0" i="0" u="none" strike="noStrike">
                    <a:solidFill>
                      <a:srgbClr val="6E7A66"/>
                    </a:solidFill>
                    <a:latin typeface="Arial"/>
                  </a:defRPr>
                </a:pPr>
                <a:r>
                  <a:rPr sz="900" b="0" i="0" u="none" strike="noStrike">
                    <a:solidFill>
                      <a:srgbClr val="6E7A66"/>
                    </a:solidFill>
                    <a:latin typeface="Arial"/>
                  </a:rPr>
                  <a:t>Pearson 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E7A6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C2419"/>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SD of annual production change, %</c:v>
                </c:pt>
              </c:strCache>
            </c:strRef>
          </c:tx>
          <c:spPr>
            <a:solidFill>
              <a:srgbClr val="3E7B31"/>
            </a:solidFill>
            <a:effectLst/>
          </c:spPr>
          <c:invertIfNegative val="0"/>
          <c:dLbls>
            <c:numFmt formatCode="0.0" sourceLinked="0"/>
            <c:txPr>
              <a:bodyPr/>
              <a:lstStyle/>
              <a:p>
                <a:pPr>
                  <a:defRPr b="0" i="0" strike="noStrike" sz="900" u="none">
                    <a:solidFill>
                      <a:srgbClr val="1C2419"/>
                    </a:solidFill>
                    <a:latin typeface="Arial"/>
                  </a:defRPr>
                </a:pPr>
              </a:p>
            </c:txPr>
            <c:showLegendKey val="0"/>
            <c:showVal val="1"/>
            <c:showCatName val="0"/>
            <c:showSerName val="0"/>
            <c:showPercent val="0"/>
            <c:showBubbleSize val="0"/>
            <c:showLeaderLines val="0"/>
          </c:dLbls>
          <c:dPt>
            <c:idx val="0"/>
            <c:invertIfNegative val="0"/>
            <c:bubble3D val="0"/>
            <c:spPr>
              <a:solidFill>
                <a:srgbClr val="3E7B31"/>
              </a:solidFill>
              <a:effectLst/>
            </c:spPr>
          </c:dPt>
          <c:dPt>
            <c:idx val="1"/>
            <c:invertIfNegative val="0"/>
            <c:bubble3D val="0"/>
            <c:spPr>
              <a:solidFill>
                <a:srgbClr val="3E7B31"/>
              </a:solidFill>
              <a:effectLst/>
            </c:spPr>
          </c:dPt>
          <c:dPt>
            <c:idx val="2"/>
            <c:invertIfNegative val="0"/>
            <c:bubble3D val="0"/>
            <c:spPr>
              <a:solidFill>
                <a:srgbClr val="D9A521"/>
              </a:solidFill>
              <a:effectLst/>
            </c:spPr>
          </c:dPt>
          <c:dPt>
            <c:idx val="3"/>
            <c:invertIfNegative val="0"/>
            <c:bubble3D val="0"/>
            <c:spPr>
              <a:solidFill>
                <a:srgbClr val="3E7B31"/>
              </a:solidFill>
              <a:effectLst/>
            </c:spPr>
          </c:dPt>
          <c:dPt>
            <c:idx val="4"/>
            <c:invertIfNegative val="0"/>
            <c:bubble3D val="0"/>
            <c:spPr>
              <a:solidFill>
                <a:srgbClr val="1E4620"/>
              </a:solidFill>
              <a:effectLst/>
            </c:spPr>
          </c:dPt>
          <c:cat>
            <c:multiLvlStrRef>
              <c:f>Sheet1!$A$2:$A$6</c:f>
              <c:multiLvlStrCache>
                <c:ptCount val="5"/>
                <c:lvl>
                  <c:pt idx="0">
                    <c:v>1950-64</c:v>
                  </c:pt>
                  <c:pt idx="1">
                    <c:v>1965-74</c:v>
                  </c:pt>
                  <c:pt idx="2">
                    <c:v>1975-90</c:v>
                  </c:pt>
                  <c:pt idx="3">
                    <c:v>1991-2010</c:v>
                  </c:pt>
                  <c:pt idx="4">
                    <c:v>2011-25</c:v>
                  </c:pt>
                </c:lvl>
              </c:multiLvlStrCache>
            </c:multiLvlStrRef>
          </c:cat>
          <c:val>
            <c:numRef>
              <c:f>Sheet1!$B$2:$B$6</c:f>
              <c:numCache>
                <c:formatCode>General</c:formatCode>
                <c:ptCount val="5"/>
                <c:pt idx="0">
                  <c:v>10.2</c:v>
                </c:pt>
                <c:pt idx="1">
                  <c:v>12.62</c:v>
                </c:pt>
                <c:pt idx="2">
                  <c:v>15.88</c:v>
                </c:pt>
                <c:pt idx="3">
                  <c:v>9.44</c:v>
                </c:pt>
                <c:pt idx="4">
                  <c:v>3.16</c:v>
                </c:pt>
              </c:numCache>
            </c:numRef>
          </c:val>
        </c:ser>
        <c:dLbls>
          <c:numFmt formatCode="0.0" sourceLinked="0"/>
          <c:txPr>
            <a:bodyPr/>
            <a:lstStyle/>
            <a:p>
              <a:pPr>
                <a:defRPr b="0" i="0" strike="noStrike" sz="900" u="none">
                  <a:solidFill>
                    <a:srgbClr val="1C2419"/>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C2419"/>
                </a:solidFill>
                <a:latin typeface="Arial"/>
              </a:defRPr>
            </a:pPr>
            <a:endParaRPr lang="en-US"/>
          </a:p>
        </c:txPr>
        <c:crossAx val="2094734552"/>
        <c:crosses val="autoZero"/>
        <c:auto val="1"/>
        <c:lblAlgn val="ctr"/>
        <c:noMultiLvlLbl val="1"/>
      </c:catAx>
      <c:valAx>
        <c:axId val="2094734552"/>
        <c:scaling>
          <c:orientation val="minMax"/>
          <c:max val="18"/>
          <c:min val="0"/>
        </c:scaling>
        <c:delete val="0"/>
        <c:axPos val="l"/>
        <c:majorGridlines>
          <c:spPr>
            <a:ln w="12700" cap="flat">
              <a:solidFill>
                <a:srgbClr val="DCE3D6"/>
              </a:solidFill>
              <a:prstDash val="solid"/>
              <a:round/>
            </a:ln>
          </c:spPr>
        </c:majorGridlines>
        <c:title>
          <c:tx>
            <c:rich>
              <a:bodyPr/>
              <a:lstStyle/>
              <a:p>
                <a:pPr>
                  <a:defRPr sz="900" b="0" i="0" u="none" strike="noStrike">
                    <a:solidFill>
                      <a:srgbClr val="6E7A66"/>
                    </a:solidFill>
                    <a:latin typeface="Arial"/>
                  </a:defRPr>
                </a:pPr>
                <a:r>
                  <a:rPr sz="900" b="0" i="0" u="none" strike="noStrike">
                    <a:solidFill>
                      <a:srgbClr val="6E7A66"/>
                    </a:solidFill>
                    <a:latin typeface="Arial"/>
                  </a:rPr>
                  <a:t>Standard deviation, % p.a.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E7A6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1E4620"/>
            </a:solidFill>
            <a:ln w="31750" cap="flat">
              <a:solidFill>
                <a:srgbClr val="1E462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E4620"/>
              </a:solidFill>
              <a:ln w="9525" cap="flat">
                <a:solidFill>
                  <a:srgbClr val="1E4620"/>
                </a:solidFill>
                <a:prstDash val="solid"/>
                <a:round/>
              </a:ln>
              <a:effectLst/>
            </c:spPr>
          </c:marker>
          <c:cat>
            <c:multiLvlStrRef>
              <c:f>Sheet1!$A$2:$A$11</c:f>
              <c:multiLvlStrCache>
                <c:ptCount val="10"/>
                <c:lvl>
                  <c:pt idx="0">
                    <c:v>2019-20</c:v>
                  </c:pt>
                  <c:pt idx="1">
                    <c:v>2020-21</c:v>
                  </c:pt>
                  <c:pt idx="2">
                    <c:v>2021-22</c:v>
                  </c:pt>
                  <c:pt idx="3">
                    <c:v>2022-23</c:v>
                  </c:pt>
                  <c:pt idx="4">
                    <c:v>2023-24</c:v>
                  </c:pt>
                  <c:pt idx="5">
                    <c:v>2024-25</c:v>
                  </c:pt>
                  <c:pt idx="6">
                    <c:v>2025-26</c:v>
                  </c:pt>
                  <c:pt idx="7">
                    <c:v>2026-27</c:v>
                  </c:pt>
                  <c:pt idx="8">
                    <c:v>2027-28</c:v>
                  </c:pt>
                  <c:pt idx="9">
                    <c:v>2028-29</c:v>
                  </c:pt>
                </c:lvl>
              </c:multiLvlStrCache>
            </c:multiLvlStrRef>
          </c:cat>
          <c:val>
            <c:numRef>
              <c:f>Sheet1!$B$2:$B$11</c:f>
              <c:numCache>
                <c:formatCode>General</c:formatCode>
                <c:ptCount val="10"/>
                <c:pt idx="0">
                  <c:v>1188.7</c:v>
                </c:pt>
                <c:pt idx="1">
                  <c:v>1243.68</c:v>
                </c:pt>
                <c:pt idx="2">
                  <c:v>1294.71</c:v>
                </c:pt>
                <c:pt idx="3">
                  <c:v>1357.55</c:v>
                </c:pt>
                <c:pt idx="4">
                  <c:v>1378.25</c:v>
                </c:pt>
                <c:pt idx="5">
                  <c:v>1501.84</c:v>
                </c:pt>
                <c:pt idx="6">
                  <c:v>1540.24</c:v>
                </c:pt>
                <c:pt idx="7">
                  <c:v/>
                </c:pt>
                <c:pt idx="8">
                  <c:v/>
                </c:pt>
                <c:pt idx="9">
                  <c:v/>
                </c:pt>
              </c:numCache>
            </c:numRef>
          </c:val>
          <c:smooth val="0"/>
        </c:ser>
        <c:ser>
          <c:idx val="1"/>
          <c:order val="1"/>
          <c:tx>
            <c:strRef>
              <c:f>Sheet1!$C$1</c:f>
              <c:strCache>
                <c:ptCount val="1"/>
                <c:pt idx="0">
                  <c:v>Forecast</c:v>
                </c:pt>
              </c:strCache>
            </c:strRef>
          </c:tx>
          <c:spPr>
            <a:solidFill>
              <a:srgbClr val="D9A521"/>
            </a:solidFill>
            <a:ln w="31750" cap="flat">
              <a:solidFill>
                <a:srgbClr val="D9A52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A521"/>
              </a:solidFill>
              <a:ln w="9525" cap="flat">
                <a:solidFill>
                  <a:srgbClr val="D9A521"/>
                </a:solidFill>
                <a:prstDash val="solid"/>
                <a:round/>
              </a:ln>
              <a:effectLst/>
            </c:spPr>
          </c:marker>
          <c:cat>
            <c:multiLvlStrRef>
              <c:f>Sheet1!$A$2:$A$11</c:f>
              <c:multiLvlStrCache>
                <c:ptCount val="10"/>
                <c:lvl>
                  <c:pt idx="0">
                    <c:v>2019-20</c:v>
                  </c:pt>
                  <c:pt idx="1">
                    <c:v>2020-21</c:v>
                  </c:pt>
                  <c:pt idx="2">
                    <c:v>2021-22</c:v>
                  </c:pt>
                  <c:pt idx="3">
                    <c:v>2022-23</c:v>
                  </c:pt>
                  <c:pt idx="4">
                    <c:v>2023-24</c:v>
                  </c:pt>
                  <c:pt idx="5">
                    <c:v>2024-25</c:v>
                  </c:pt>
                  <c:pt idx="6">
                    <c:v>2025-26</c:v>
                  </c:pt>
                  <c:pt idx="7">
                    <c:v>2026-27</c:v>
                  </c:pt>
                  <c:pt idx="8">
                    <c:v>2027-28</c:v>
                  </c:pt>
                  <c:pt idx="9">
                    <c:v>2028-29</c:v>
                  </c:pt>
                </c:lvl>
              </c:multiLvlStrCache>
            </c:multiLvlStrRef>
          </c:cat>
          <c:val>
            <c:numRef>
              <c:f>Sheet1!$C$2:$C$11</c:f>
              <c:numCache>
                <c:formatCode>General</c:formatCode>
                <c:ptCount val="10"/>
                <c:pt idx="0">
                  <c:v/>
                </c:pt>
                <c:pt idx="1">
                  <c:v/>
                </c:pt>
                <c:pt idx="2">
                  <c:v/>
                </c:pt>
                <c:pt idx="3">
                  <c:v/>
                </c:pt>
                <c:pt idx="4">
                  <c:v/>
                </c:pt>
                <c:pt idx="5">
                  <c:v/>
                </c:pt>
                <c:pt idx="6">
                  <c:v>1540.24</c:v>
                </c:pt>
                <c:pt idx="7">
                  <c:v>1527.52</c:v>
                </c:pt>
                <c:pt idx="8">
                  <c:v>1568.8</c:v>
                </c:pt>
                <c:pt idx="9">
                  <c:v>1610.94</c:v>
                </c:pt>
              </c:numCache>
            </c:numRef>
          </c:val>
          <c:smooth val="0"/>
        </c:ser>
        <c:ser>
          <c:idx val="2"/>
          <c:order val="2"/>
          <c:tx>
            <c:strRef>
              <c:f>Sheet1!$D$1</c:f>
              <c:strCache>
                <c:ptCount val="1"/>
                <c:pt idx="0">
                  <c:v>80% band — upper</c:v>
                </c:pt>
              </c:strCache>
            </c:strRef>
          </c:tx>
          <c:spPr>
            <a:solidFill>
              <a:srgbClr val="97BC62"/>
            </a:solidFill>
            <a:ln w="31750" cap="flat">
              <a:solidFill>
                <a:srgbClr val="97BC6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7BC62"/>
              </a:solidFill>
              <a:ln w="9525" cap="flat">
                <a:solidFill>
                  <a:srgbClr val="97BC62"/>
                </a:solidFill>
                <a:prstDash val="solid"/>
                <a:round/>
              </a:ln>
              <a:effectLst/>
            </c:spPr>
          </c:marker>
          <c:cat>
            <c:multiLvlStrRef>
              <c:f>Sheet1!$A$2:$A$11</c:f>
              <c:multiLvlStrCache>
                <c:ptCount val="10"/>
                <c:lvl>
                  <c:pt idx="0">
                    <c:v>2019-20</c:v>
                  </c:pt>
                  <c:pt idx="1">
                    <c:v>2020-21</c:v>
                  </c:pt>
                  <c:pt idx="2">
                    <c:v>2021-22</c:v>
                  </c:pt>
                  <c:pt idx="3">
                    <c:v>2022-23</c:v>
                  </c:pt>
                  <c:pt idx="4">
                    <c:v>2023-24</c:v>
                  </c:pt>
                  <c:pt idx="5">
                    <c:v>2024-25</c:v>
                  </c:pt>
                  <c:pt idx="6">
                    <c:v>2025-26</c:v>
                  </c:pt>
                  <c:pt idx="7">
                    <c:v>2026-27</c:v>
                  </c:pt>
                  <c:pt idx="8">
                    <c:v>2027-28</c:v>
                  </c:pt>
                  <c:pt idx="9">
                    <c:v>2028-29</c:v>
                  </c:pt>
                </c:lvl>
              </c:multiLvlStrCache>
            </c:multiLvlStrRef>
          </c:cat>
          <c:val>
            <c:numRef>
              <c:f>Sheet1!$D$2:$D$11</c:f>
              <c:numCache>
                <c:formatCode>General</c:formatCode>
                <c:ptCount val="10"/>
                <c:pt idx="0">
                  <c:v/>
                </c:pt>
                <c:pt idx="1">
                  <c:v/>
                </c:pt>
                <c:pt idx="2">
                  <c:v/>
                </c:pt>
                <c:pt idx="3">
                  <c:v/>
                </c:pt>
                <c:pt idx="4">
                  <c:v/>
                </c:pt>
                <c:pt idx="5">
                  <c:v/>
                </c:pt>
                <c:pt idx="6">
                  <c:v>1540.24</c:v>
                </c:pt>
                <c:pt idx="7">
                  <c:v>1666.77</c:v>
                </c:pt>
                <c:pt idx="8">
                  <c:v>1721.91</c:v>
                </c:pt>
                <c:pt idx="9">
                  <c:v>1787.08</c:v>
                </c:pt>
              </c:numCache>
            </c:numRef>
          </c:val>
          <c:smooth val="0"/>
        </c:ser>
        <c:ser>
          <c:idx val="3"/>
          <c:order val="3"/>
          <c:tx>
            <c:strRef>
              <c:f>Sheet1!$E$1</c:f>
              <c:strCache>
                <c:ptCount val="1"/>
                <c:pt idx="0">
                  <c:v>80% band — lower</c:v>
                </c:pt>
              </c:strCache>
            </c:strRef>
          </c:tx>
          <c:spPr>
            <a:solidFill>
              <a:srgbClr val="97BC62"/>
            </a:solidFill>
            <a:ln w="31750" cap="flat">
              <a:solidFill>
                <a:srgbClr val="97BC6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7BC62"/>
              </a:solidFill>
              <a:ln w="9525" cap="flat">
                <a:solidFill>
                  <a:srgbClr val="97BC62"/>
                </a:solidFill>
                <a:prstDash val="solid"/>
                <a:round/>
              </a:ln>
              <a:effectLst/>
            </c:spPr>
          </c:marker>
          <c:cat>
            <c:multiLvlStrRef>
              <c:f>Sheet1!$A$2:$A$11</c:f>
              <c:multiLvlStrCache>
                <c:ptCount val="10"/>
                <c:lvl>
                  <c:pt idx="0">
                    <c:v>2019-20</c:v>
                  </c:pt>
                  <c:pt idx="1">
                    <c:v>2020-21</c:v>
                  </c:pt>
                  <c:pt idx="2">
                    <c:v>2021-22</c:v>
                  </c:pt>
                  <c:pt idx="3">
                    <c:v>2022-23</c:v>
                  </c:pt>
                  <c:pt idx="4">
                    <c:v>2023-24</c:v>
                  </c:pt>
                  <c:pt idx="5">
                    <c:v>2024-25</c:v>
                  </c:pt>
                  <c:pt idx="6">
                    <c:v>2025-26</c:v>
                  </c:pt>
                  <c:pt idx="7">
                    <c:v>2026-27</c:v>
                  </c:pt>
                  <c:pt idx="8">
                    <c:v>2027-28</c:v>
                  </c:pt>
                  <c:pt idx="9">
                    <c:v>2028-29</c:v>
                  </c:pt>
                </c:lvl>
              </c:multiLvlStrCache>
            </c:multiLvlStrRef>
          </c:cat>
          <c:val>
            <c:numRef>
              <c:f>Sheet1!$E$2:$E$11</c:f>
              <c:numCache>
                <c:formatCode>General</c:formatCode>
                <c:ptCount val="10"/>
                <c:pt idx="0">
                  <c:v/>
                </c:pt>
                <c:pt idx="1">
                  <c:v/>
                </c:pt>
                <c:pt idx="2">
                  <c:v/>
                </c:pt>
                <c:pt idx="3">
                  <c:v/>
                </c:pt>
                <c:pt idx="4">
                  <c:v/>
                </c:pt>
                <c:pt idx="5">
                  <c:v/>
                </c:pt>
                <c:pt idx="6">
                  <c:v>1540.24</c:v>
                </c:pt>
                <c:pt idx="7">
                  <c:v>1410.68</c:v>
                </c:pt>
                <c:pt idx="8">
                  <c:v>1460.49</c:v>
                </c:pt>
                <c:pt idx="9">
                  <c:v>1508.82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840" b="0" i="0" u="none" strike="noStrike">
                <a:solidFill>
                  <a:srgbClr val="1C2419"/>
                </a:solidFill>
                <a:latin typeface="Arial"/>
              </a:defRPr>
            </a:pPr>
            <a:endParaRPr lang="en-US"/>
          </a:p>
        </c:txPr>
        <c:crossAx val="2094734552"/>
        <c:crosses val="autoZero"/>
        <c:auto val="1"/>
        <c:lblAlgn val="ctr"/>
        <c:noMultiLvlLbl val="1"/>
      </c:catAx>
      <c:valAx>
        <c:axId val="2094734552"/>
        <c:scaling>
          <c:orientation val="minMax"/>
          <c:max val="1900"/>
          <c:min val="1100"/>
        </c:scaling>
        <c:delete val="0"/>
        <c:axPos val="l"/>
        <c:majorGridlines>
          <c:spPr>
            <a:ln w="12700" cap="flat">
              <a:solidFill>
                <a:srgbClr val="DCE3D6"/>
              </a:solidFill>
              <a:prstDash val="solid"/>
              <a:round/>
            </a:ln>
          </c:spPr>
        </c:majorGridlines>
        <c:title>
          <c:tx>
            <c:rich>
              <a:bodyPr/>
              <a:lstStyle/>
              <a:p>
                <a:pPr>
                  <a:defRPr sz="900" b="0" i="0" u="none" strike="noStrike">
                    <a:solidFill>
                      <a:srgbClr val="6E7A66"/>
                    </a:solidFill>
                    <a:latin typeface="Arial"/>
                  </a:defRPr>
                </a:pPr>
                <a:r>
                  <a:rPr sz="900" b="0" i="0" u="none" strike="noStrike">
                    <a:solidFill>
                      <a:srgbClr val="6E7A66"/>
                    </a:solidFill>
                    <a:latin typeface="Arial"/>
                  </a:rPr>
                  <a:t>Production, lakh tonnes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E7A6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C2419"/>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MSP is a policy floor on our procurement cost; area x yield determines how much paddy exists to buy. The three content slides answer: what drove growth, what actually moves output and what the risk is, and what the outlook implies for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is the inversion. For 40 years yield was the story; in the last 15 the business has been getting its extra paddy from more hectares, not better hectares. Area is capped by land and water, so this is the fragile version of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messages. First, the 0.95 MSP-production correlation that a naive read of the data produces is spurious - both series simply trend upward. Detrended it is 0.018. Second, volatility has fallen five-fold since the 1975-90 era, which is a working-capital opportunity, not just a comfort.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Recommendation 1 is the cheapest and highest-certainty change - it is a budgeting rule, not a spend. Recommendation 4 is the one that releases cash. Recommendation 5 is the long-horizon structural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numbers that carry the argument: the decoupling of MSP from output, the shift of growth onto land, and the honest forecast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620"/>
        </a:solidFill>
      </p:bgPr>
    </p:bg>
    <p:spTree>
      <p:nvGrpSpPr>
        <p:cNvPr id="1" name=""/>
        <p:cNvGrpSpPr/>
        <p:nvPr/>
      </p:nvGrpSpPr>
      <p:grpSpPr>
        <a:xfrm>
          <a:off x="0" y="0"/>
          <a:ext cx="0" cy="0"/>
          <a:chOff x="0" y="0"/>
          <a:chExt cx="0" cy="0"/>
        </a:xfrm>
      </p:grpSpPr>
      <p:sp>
        <p:nvSpPr>
          <p:cNvPr id="2" name="Shape 0"/>
          <p:cNvSpPr/>
          <p:nvPr/>
        </p:nvSpPr>
        <p:spPr>
          <a:xfrm>
            <a:off x="9464040" y="1051560"/>
            <a:ext cx="91440" cy="1371600"/>
          </a:xfrm>
          <a:prstGeom prst="roundRect">
            <a:avLst>
              <a:gd name="adj" fmla="val 50000"/>
            </a:avLst>
          </a:prstGeom>
          <a:solidFill>
            <a:srgbClr val="97BC62"/>
          </a:solidFill>
          <a:ln w="12700">
            <a:solidFill>
              <a:srgbClr val="333333"/>
            </a:solidFill>
            <a:prstDash val="solid"/>
          </a:ln>
        </p:spPr>
      </p:sp>
      <p:sp>
        <p:nvSpPr>
          <p:cNvPr id="3" name="Shape 1"/>
          <p:cNvSpPr/>
          <p:nvPr/>
        </p:nvSpPr>
        <p:spPr>
          <a:xfrm>
            <a:off x="10030968" y="1051560"/>
            <a:ext cx="91440" cy="1371600"/>
          </a:xfrm>
          <a:prstGeom prst="roundRect">
            <a:avLst>
              <a:gd name="adj" fmla="val 50000"/>
            </a:avLst>
          </a:prstGeom>
          <a:solidFill>
            <a:srgbClr val="3E7B31"/>
          </a:solidFill>
          <a:ln w="12700">
            <a:solidFill>
              <a:srgbClr val="333333"/>
            </a:solidFill>
            <a:prstDash val="solid"/>
          </a:ln>
        </p:spPr>
      </p:sp>
      <p:sp>
        <p:nvSpPr>
          <p:cNvPr id="4" name="Shape 2"/>
          <p:cNvSpPr/>
          <p:nvPr/>
        </p:nvSpPr>
        <p:spPr>
          <a:xfrm>
            <a:off x="10597896" y="1051560"/>
            <a:ext cx="91440" cy="1371600"/>
          </a:xfrm>
          <a:prstGeom prst="roundRect">
            <a:avLst>
              <a:gd name="adj" fmla="val 50000"/>
            </a:avLst>
          </a:prstGeom>
          <a:solidFill>
            <a:srgbClr val="97BC62"/>
          </a:solidFill>
          <a:ln w="12700">
            <a:solidFill>
              <a:srgbClr val="333333"/>
            </a:solidFill>
            <a:prstDash val="solid"/>
          </a:ln>
        </p:spPr>
      </p:sp>
      <p:sp>
        <p:nvSpPr>
          <p:cNvPr id="5" name="Shape 3"/>
          <p:cNvSpPr/>
          <p:nvPr/>
        </p:nvSpPr>
        <p:spPr>
          <a:xfrm>
            <a:off x="9464040" y="2788920"/>
            <a:ext cx="91440" cy="1371600"/>
          </a:xfrm>
          <a:prstGeom prst="roundRect">
            <a:avLst>
              <a:gd name="adj" fmla="val 50000"/>
            </a:avLst>
          </a:prstGeom>
          <a:solidFill>
            <a:srgbClr val="3E7B31"/>
          </a:solidFill>
          <a:ln w="12700">
            <a:solidFill>
              <a:srgbClr val="333333"/>
            </a:solidFill>
            <a:prstDash val="solid"/>
          </a:ln>
        </p:spPr>
      </p:sp>
      <p:sp>
        <p:nvSpPr>
          <p:cNvPr id="6" name="Shape 4"/>
          <p:cNvSpPr/>
          <p:nvPr/>
        </p:nvSpPr>
        <p:spPr>
          <a:xfrm>
            <a:off x="10030968" y="2788920"/>
            <a:ext cx="91440" cy="1371600"/>
          </a:xfrm>
          <a:prstGeom prst="roundRect">
            <a:avLst>
              <a:gd name="adj" fmla="val 50000"/>
            </a:avLst>
          </a:prstGeom>
          <a:solidFill>
            <a:srgbClr val="97BC62"/>
          </a:solidFill>
          <a:ln w="12700">
            <a:solidFill>
              <a:srgbClr val="333333"/>
            </a:solidFill>
            <a:prstDash val="solid"/>
          </a:ln>
        </p:spPr>
      </p:sp>
      <p:sp>
        <p:nvSpPr>
          <p:cNvPr id="7" name="Shape 5"/>
          <p:cNvSpPr/>
          <p:nvPr/>
        </p:nvSpPr>
        <p:spPr>
          <a:xfrm>
            <a:off x="10597896" y="2788920"/>
            <a:ext cx="91440" cy="1371600"/>
          </a:xfrm>
          <a:prstGeom prst="roundRect">
            <a:avLst>
              <a:gd name="adj" fmla="val 50000"/>
            </a:avLst>
          </a:prstGeom>
          <a:solidFill>
            <a:srgbClr val="3E7B31"/>
          </a:solidFill>
          <a:ln w="12700">
            <a:solidFill>
              <a:srgbClr val="333333"/>
            </a:solidFill>
            <a:prstDash val="solid"/>
          </a:ln>
        </p:spPr>
      </p:sp>
      <p:sp>
        <p:nvSpPr>
          <p:cNvPr id="8" name="Shape 6"/>
          <p:cNvSpPr/>
          <p:nvPr/>
        </p:nvSpPr>
        <p:spPr>
          <a:xfrm>
            <a:off x="9464040" y="4526280"/>
            <a:ext cx="91440" cy="1371600"/>
          </a:xfrm>
          <a:prstGeom prst="roundRect">
            <a:avLst>
              <a:gd name="adj" fmla="val 50000"/>
            </a:avLst>
          </a:prstGeom>
          <a:solidFill>
            <a:srgbClr val="97BC62"/>
          </a:solidFill>
          <a:ln w="12700">
            <a:solidFill>
              <a:srgbClr val="333333"/>
            </a:solidFill>
            <a:prstDash val="solid"/>
          </a:ln>
        </p:spPr>
      </p:sp>
      <p:sp>
        <p:nvSpPr>
          <p:cNvPr id="9" name="Shape 7"/>
          <p:cNvSpPr/>
          <p:nvPr/>
        </p:nvSpPr>
        <p:spPr>
          <a:xfrm>
            <a:off x="10030968" y="4526280"/>
            <a:ext cx="91440" cy="1371600"/>
          </a:xfrm>
          <a:prstGeom prst="roundRect">
            <a:avLst>
              <a:gd name="adj" fmla="val 50000"/>
            </a:avLst>
          </a:prstGeom>
          <a:solidFill>
            <a:srgbClr val="3E7B31"/>
          </a:solidFill>
          <a:ln w="12700">
            <a:solidFill>
              <a:srgbClr val="333333"/>
            </a:solidFill>
            <a:prstDash val="solid"/>
          </a:ln>
        </p:spPr>
      </p:sp>
      <p:sp>
        <p:nvSpPr>
          <p:cNvPr id="10" name="Shape 8"/>
          <p:cNvSpPr/>
          <p:nvPr/>
        </p:nvSpPr>
        <p:spPr>
          <a:xfrm>
            <a:off x="10597896" y="4526280"/>
            <a:ext cx="91440" cy="1371600"/>
          </a:xfrm>
          <a:prstGeom prst="roundRect">
            <a:avLst>
              <a:gd name="adj" fmla="val 50000"/>
            </a:avLst>
          </a:prstGeom>
          <a:solidFill>
            <a:srgbClr val="97BC62"/>
          </a:solidFill>
          <a:ln w="12700">
            <a:solidFill>
              <a:srgbClr val="333333"/>
            </a:solidFill>
            <a:prstDash val="solid"/>
          </a:ln>
        </p:spPr>
      </p:sp>
      <p:sp>
        <p:nvSpPr>
          <p:cNvPr id="11" name="Text 9"/>
          <p:cNvSpPr/>
          <p:nvPr/>
        </p:nvSpPr>
        <p:spPr>
          <a:xfrm>
            <a:off x="685800" y="822960"/>
            <a:ext cx="8229600" cy="274320"/>
          </a:xfrm>
          <a:prstGeom prst="rect">
            <a:avLst/>
          </a:prstGeom>
          <a:noFill/>
          <a:ln/>
        </p:spPr>
        <p:txBody>
          <a:bodyPr wrap="square" lIns="0" tIns="0" rIns="0" bIns="0" rtlCol="0" anchor="ctr"/>
          <a:lstStyle/>
          <a:p>
            <a:pPr indent="0" marL="0">
              <a:buNone/>
            </a:pPr>
            <a:r>
              <a:rPr lang="en-US" sz="1150" b="1" spc="200" kern="0" dirty="0">
                <a:solidFill>
                  <a:srgbClr val="D9A521"/>
                </a:solidFill>
                <a:latin typeface="Calibri" pitchFamily="34" charset="0"/>
                <a:ea typeface="Calibri" pitchFamily="34" charset="-122"/>
                <a:cs typeface="Calibri" pitchFamily="34" charset="-120"/>
              </a:rPr>
              <a:t>DATTANSH 26  |  INSIGHT REPORT</a:t>
            </a:r>
            <a:endParaRPr lang="en-US" sz="1150" dirty="0"/>
          </a:p>
        </p:txBody>
      </p:sp>
      <p:sp>
        <p:nvSpPr>
          <p:cNvPr id="12" name="Text 10"/>
          <p:cNvSpPr/>
          <p:nvPr/>
        </p:nvSpPr>
        <p:spPr>
          <a:xfrm>
            <a:off x="685800" y="1298448"/>
            <a:ext cx="8503920" cy="868680"/>
          </a:xfrm>
          <a:prstGeom prst="rect">
            <a:avLst/>
          </a:prstGeom>
          <a:noFill/>
          <a:ln/>
        </p:spPr>
        <p:txBody>
          <a:bodyPr wrap="square" lIns="0" tIns="0" rIns="0" bIns="0" rtlCol="0" anchor="ctr"/>
          <a:lstStyle/>
          <a:p>
            <a:pPr indent="0" marL="0">
              <a:buNone/>
            </a:pPr>
            <a:r>
              <a:rPr lang="en-US" sz="4300" b="1" dirty="0">
                <a:solidFill>
                  <a:srgbClr val="FFFFFF"/>
                </a:solidFill>
                <a:latin typeface="Cambria" pitchFamily="34" charset="0"/>
                <a:ea typeface="Cambria" pitchFamily="34" charset="-122"/>
                <a:cs typeface="Cambria" pitchFamily="34" charset="-120"/>
              </a:rPr>
              <a:t>From Paddy Field to P&amp;L</a:t>
            </a:r>
            <a:endParaRPr lang="en-US" sz="4300" dirty="0"/>
          </a:p>
        </p:txBody>
      </p:sp>
      <p:sp>
        <p:nvSpPr>
          <p:cNvPr id="13" name="Text 11"/>
          <p:cNvSpPr/>
          <p:nvPr/>
        </p:nvSpPr>
        <p:spPr>
          <a:xfrm>
            <a:off x="685800" y="2212848"/>
            <a:ext cx="8321040" cy="566928"/>
          </a:xfrm>
          <a:prstGeom prst="rect">
            <a:avLst/>
          </a:prstGeom>
          <a:noFill/>
          <a:ln/>
        </p:spPr>
        <p:txBody>
          <a:bodyPr wrap="square" lIns="0" tIns="0" rIns="0" bIns="0" rtlCol="0" anchor="ctr"/>
          <a:lstStyle/>
          <a:p>
            <a:pPr indent="0" marL="0">
              <a:lnSpc>
                <a:spcPts val="2200"/>
              </a:lnSpc>
              <a:buNone/>
            </a:pPr>
            <a:r>
              <a:rPr lang="en-US" sz="1700" dirty="0">
                <a:solidFill>
                  <a:srgbClr val="97BC62"/>
                </a:solidFill>
                <a:latin typeface="Calibri" pitchFamily="34" charset="0"/>
                <a:ea typeface="Calibri" pitchFamily="34" charset="-122"/>
                <a:cs typeface="Calibri" pitchFamily="34" charset="-120"/>
              </a:rPr>
              <a:t>Reading India's rice economy for strategic agribusiness decisions</a:t>
            </a:r>
            <a:endParaRPr lang="en-US" sz="1700" dirty="0"/>
          </a:p>
        </p:txBody>
      </p:sp>
      <p:sp>
        <p:nvSpPr>
          <p:cNvPr id="14" name="Text 12"/>
          <p:cNvSpPr/>
          <p:nvPr/>
        </p:nvSpPr>
        <p:spPr>
          <a:xfrm>
            <a:off x="685800" y="3218688"/>
            <a:ext cx="8321040" cy="310896"/>
          </a:xfrm>
          <a:prstGeom prst="rect">
            <a:avLst/>
          </a:prstGeom>
          <a:noFill/>
          <a:ln/>
        </p:spPr>
        <p:txBody>
          <a:bodyPr wrap="square" lIns="0" tIns="0" rIns="0" bIns="0" rtlCol="0" anchor="ctr"/>
          <a:lstStyle/>
          <a:p>
            <a:pPr indent="0" marL="0">
              <a:buNone/>
            </a:pPr>
            <a:r>
              <a:rPr lang="en-US" sz="1250" dirty="0">
                <a:solidFill>
                  <a:srgbClr val="97BC62"/>
                </a:solidFill>
                <a:latin typeface="Calibri" pitchFamily="34" charset="0"/>
                <a:ea typeface="Calibri" pitchFamily="34" charset="-122"/>
                <a:cs typeface="Calibri" pitchFamily="34" charset="-120"/>
              </a:rPr>
              <a:t>Prepared for  </a:t>
            </a:r>
            <a:pPr indent="0" marL="0">
              <a:buNone/>
            </a:pPr>
            <a:r>
              <a:rPr lang="en-US" sz="1250" b="1" dirty="0">
                <a:solidFill>
                  <a:srgbClr val="FFFFFF"/>
                </a:solidFill>
                <a:latin typeface="Calibri" pitchFamily="34" charset="0"/>
                <a:ea typeface="Calibri" pitchFamily="34" charset="-122"/>
                <a:cs typeface="Calibri" pitchFamily="34" charset="-120"/>
              </a:rPr>
              <a:t>the leadership of a mid-sized rice processing, procurement and trading business</a:t>
            </a:r>
            <a:endParaRPr lang="en-US" sz="1250" dirty="0"/>
          </a:p>
        </p:txBody>
      </p:sp>
      <p:sp>
        <p:nvSpPr>
          <p:cNvPr id="15" name="Text 13"/>
          <p:cNvSpPr/>
          <p:nvPr/>
        </p:nvSpPr>
        <p:spPr>
          <a:xfrm>
            <a:off x="685800" y="3602736"/>
            <a:ext cx="8321040" cy="786384"/>
          </a:xfrm>
          <a:prstGeom prst="rect">
            <a:avLst/>
          </a:prstGeom>
          <a:noFill/>
          <a:ln/>
        </p:spPr>
        <p:txBody>
          <a:bodyPr wrap="square" lIns="0" tIns="0" rIns="0" bIns="0" rtlCol="0" anchor="ctr"/>
          <a:lstStyle/>
          <a:p>
            <a:pPr indent="0" marL="0">
              <a:lnSpc>
                <a:spcPts val="1700"/>
              </a:lnSpc>
              <a:buNone/>
            </a:pPr>
            <a:r>
              <a:rPr lang="en-US" sz="1250" dirty="0">
                <a:solidFill>
                  <a:srgbClr val="97BC62"/>
                </a:solidFill>
                <a:latin typeface="Calibri" pitchFamily="34" charset="0"/>
                <a:ea typeface="Calibri" pitchFamily="34" charset="-122"/>
                <a:cs typeface="Calibri" pitchFamily="34" charset="-120"/>
              </a:rPr>
              <a:t>The question  </a:t>
            </a:r>
            <a:pPr indent="0" marL="0">
              <a:lnSpc>
                <a:spcPts val="1700"/>
              </a:lnSpc>
              <a:buNone/>
            </a:pPr>
            <a:r>
              <a:rPr lang="en-US" sz="1250" i="1" dirty="0">
                <a:solidFill>
                  <a:srgbClr val="FFFFFF"/>
                </a:solidFill>
                <a:latin typeface="Calibri" pitchFamily="34" charset="0"/>
                <a:ea typeface="Calibri" pitchFamily="34" charset="-122"/>
                <a:cs typeface="Calibri" pitchFamily="34" charset="-120"/>
              </a:rPr>
              <a:t>“What does the historical trajectory of India's rice economy tell us about the risks and opportunities the business should plan for — and where should management focus first?”</a:t>
            </a:r>
            <a:endParaRPr lang="en-US" sz="1250" dirty="0"/>
          </a:p>
        </p:txBody>
      </p:sp>
      <p:sp>
        <p:nvSpPr>
          <p:cNvPr id="16" name="Shape 14"/>
          <p:cNvSpPr/>
          <p:nvPr/>
        </p:nvSpPr>
        <p:spPr>
          <a:xfrm>
            <a:off x="685800" y="4709160"/>
            <a:ext cx="1938528" cy="987552"/>
          </a:xfrm>
          <a:prstGeom prst="roundRect">
            <a:avLst>
              <a:gd name="adj" fmla="val 5556"/>
            </a:avLst>
          </a:prstGeom>
          <a:solidFill>
            <a:srgbClr val="27552A"/>
          </a:solidFill>
          <a:ln w="12700">
            <a:solidFill>
              <a:srgbClr val="3E7B31"/>
            </a:solidFill>
            <a:prstDash val="solid"/>
          </a:ln>
        </p:spPr>
      </p:sp>
      <p:sp>
        <p:nvSpPr>
          <p:cNvPr id="17" name="Text 15"/>
          <p:cNvSpPr/>
          <p:nvPr/>
        </p:nvSpPr>
        <p:spPr>
          <a:xfrm>
            <a:off x="813816" y="4809744"/>
            <a:ext cx="1737360" cy="256032"/>
          </a:xfrm>
          <a:prstGeom prst="rect">
            <a:avLst/>
          </a:prstGeom>
          <a:noFill/>
          <a:ln/>
        </p:spPr>
        <p:txBody>
          <a:bodyPr wrap="square" lIns="0" tIns="0" rIns="0" bIns="0" rtlCol="0" anchor="ctr"/>
          <a:lstStyle/>
          <a:p>
            <a:pPr indent="0" marL="0">
              <a:buNone/>
            </a:pPr>
            <a:r>
              <a:rPr lang="en-US" sz="1300" b="1" dirty="0">
                <a:solidFill>
                  <a:srgbClr val="D9A521"/>
                </a:solidFill>
                <a:latin typeface="Cambria" pitchFamily="34" charset="0"/>
                <a:ea typeface="Cambria" pitchFamily="34" charset="-122"/>
                <a:cs typeface="Cambria" pitchFamily="34" charset="-120"/>
              </a:rPr>
              <a:t>MSP</a:t>
            </a:r>
            <a:endParaRPr lang="en-US" sz="1300" dirty="0"/>
          </a:p>
        </p:txBody>
      </p:sp>
      <p:sp>
        <p:nvSpPr>
          <p:cNvPr id="18" name="Text 16"/>
          <p:cNvSpPr/>
          <p:nvPr/>
        </p:nvSpPr>
        <p:spPr>
          <a:xfrm>
            <a:off x="813816" y="5074920"/>
            <a:ext cx="173736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₹/quintal</a:t>
            </a:r>
            <a:endParaRPr lang="en-US" sz="950" dirty="0"/>
          </a:p>
        </p:txBody>
      </p:sp>
      <p:sp>
        <p:nvSpPr>
          <p:cNvPr id="19" name="Text 17"/>
          <p:cNvSpPr/>
          <p:nvPr/>
        </p:nvSpPr>
        <p:spPr>
          <a:xfrm>
            <a:off x="813816" y="5294376"/>
            <a:ext cx="1737360" cy="219456"/>
          </a:xfrm>
          <a:prstGeom prst="rect">
            <a:avLst/>
          </a:prstGeom>
          <a:noFill/>
          <a:ln/>
        </p:spPr>
        <p:txBody>
          <a:bodyPr wrap="square" lIns="0" tIns="0" rIns="0" bIns="0" rtlCol="0" anchor="ctr"/>
          <a:lstStyle/>
          <a:p>
            <a:pPr indent="0" marL="0">
              <a:buNone/>
            </a:pPr>
            <a:r>
              <a:rPr lang="en-US" sz="860" dirty="0">
                <a:solidFill>
                  <a:srgbClr val="97BC62"/>
                </a:solidFill>
                <a:latin typeface="Calibri" pitchFamily="34" charset="0"/>
                <a:ea typeface="Calibri" pitchFamily="34" charset="-122"/>
                <a:cs typeface="Calibri" pitchFamily="34" charset="-120"/>
              </a:rPr>
              <a:t>1975-76 → 2026-27</a:t>
            </a:r>
            <a:endParaRPr lang="en-US" sz="860" dirty="0"/>
          </a:p>
        </p:txBody>
      </p:sp>
      <p:sp>
        <p:nvSpPr>
          <p:cNvPr id="20" name="Shape 18"/>
          <p:cNvSpPr/>
          <p:nvPr/>
        </p:nvSpPr>
        <p:spPr>
          <a:xfrm>
            <a:off x="2807208" y="4709160"/>
            <a:ext cx="1938528" cy="987552"/>
          </a:xfrm>
          <a:prstGeom prst="roundRect">
            <a:avLst>
              <a:gd name="adj" fmla="val 5556"/>
            </a:avLst>
          </a:prstGeom>
          <a:solidFill>
            <a:srgbClr val="27552A"/>
          </a:solidFill>
          <a:ln w="12700">
            <a:solidFill>
              <a:srgbClr val="3E7B31"/>
            </a:solidFill>
            <a:prstDash val="solid"/>
          </a:ln>
        </p:spPr>
      </p:sp>
      <p:sp>
        <p:nvSpPr>
          <p:cNvPr id="21" name="Text 19"/>
          <p:cNvSpPr/>
          <p:nvPr/>
        </p:nvSpPr>
        <p:spPr>
          <a:xfrm>
            <a:off x="2935224" y="4809744"/>
            <a:ext cx="1737360" cy="256032"/>
          </a:xfrm>
          <a:prstGeom prst="rect">
            <a:avLst/>
          </a:prstGeom>
          <a:noFill/>
          <a:ln/>
        </p:spPr>
        <p:txBody>
          <a:bodyPr wrap="square" lIns="0" tIns="0" rIns="0" bIns="0" rtlCol="0" anchor="ctr"/>
          <a:lstStyle/>
          <a:p>
            <a:pPr indent="0" marL="0">
              <a:buNone/>
            </a:pPr>
            <a:r>
              <a:rPr lang="en-US" sz="1300" b="1" dirty="0">
                <a:solidFill>
                  <a:srgbClr val="D9A521"/>
                </a:solidFill>
                <a:latin typeface="Cambria" pitchFamily="34" charset="0"/>
                <a:ea typeface="Cambria" pitchFamily="34" charset="-122"/>
                <a:cs typeface="Cambria" pitchFamily="34" charset="-120"/>
              </a:rPr>
              <a:t>Area</a:t>
            </a:r>
            <a:endParaRPr lang="en-US" sz="1300" dirty="0"/>
          </a:p>
        </p:txBody>
      </p:sp>
      <p:sp>
        <p:nvSpPr>
          <p:cNvPr id="22" name="Text 20"/>
          <p:cNvSpPr/>
          <p:nvPr/>
        </p:nvSpPr>
        <p:spPr>
          <a:xfrm>
            <a:off x="2935224" y="5074920"/>
            <a:ext cx="173736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lakh hectares</a:t>
            </a:r>
            <a:endParaRPr lang="en-US" sz="950" dirty="0"/>
          </a:p>
        </p:txBody>
      </p:sp>
      <p:sp>
        <p:nvSpPr>
          <p:cNvPr id="23" name="Text 21"/>
          <p:cNvSpPr/>
          <p:nvPr/>
        </p:nvSpPr>
        <p:spPr>
          <a:xfrm>
            <a:off x="2935224" y="5294376"/>
            <a:ext cx="1737360" cy="219456"/>
          </a:xfrm>
          <a:prstGeom prst="rect">
            <a:avLst/>
          </a:prstGeom>
          <a:noFill/>
          <a:ln/>
        </p:spPr>
        <p:txBody>
          <a:bodyPr wrap="square" lIns="0" tIns="0" rIns="0" bIns="0" rtlCol="0" anchor="ctr"/>
          <a:lstStyle/>
          <a:p>
            <a:pPr indent="0" marL="0">
              <a:buNone/>
            </a:pPr>
            <a:r>
              <a:rPr lang="en-US" sz="860" dirty="0">
                <a:solidFill>
                  <a:srgbClr val="97BC62"/>
                </a:solidFill>
                <a:latin typeface="Calibri" pitchFamily="34" charset="0"/>
                <a:ea typeface="Calibri" pitchFamily="34" charset="-122"/>
                <a:cs typeface="Calibri" pitchFamily="34" charset="-120"/>
              </a:rPr>
              <a:t>1950-51 → 2025-26</a:t>
            </a:r>
            <a:endParaRPr lang="en-US" sz="860" dirty="0"/>
          </a:p>
        </p:txBody>
      </p:sp>
      <p:sp>
        <p:nvSpPr>
          <p:cNvPr id="24" name="Shape 22"/>
          <p:cNvSpPr/>
          <p:nvPr/>
        </p:nvSpPr>
        <p:spPr>
          <a:xfrm>
            <a:off x="4928616" y="4709160"/>
            <a:ext cx="1938528" cy="987552"/>
          </a:xfrm>
          <a:prstGeom prst="roundRect">
            <a:avLst>
              <a:gd name="adj" fmla="val 5556"/>
            </a:avLst>
          </a:prstGeom>
          <a:solidFill>
            <a:srgbClr val="27552A"/>
          </a:solidFill>
          <a:ln w="12700">
            <a:solidFill>
              <a:srgbClr val="3E7B31"/>
            </a:solidFill>
            <a:prstDash val="solid"/>
          </a:ln>
        </p:spPr>
      </p:sp>
      <p:sp>
        <p:nvSpPr>
          <p:cNvPr id="25" name="Text 23"/>
          <p:cNvSpPr/>
          <p:nvPr/>
        </p:nvSpPr>
        <p:spPr>
          <a:xfrm>
            <a:off x="5056632" y="4809744"/>
            <a:ext cx="1737360" cy="256032"/>
          </a:xfrm>
          <a:prstGeom prst="rect">
            <a:avLst/>
          </a:prstGeom>
          <a:noFill/>
          <a:ln/>
        </p:spPr>
        <p:txBody>
          <a:bodyPr wrap="square" lIns="0" tIns="0" rIns="0" bIns="0" rtlCol="0" anchor="ctr"/>
          <a:lstStyle/>
          <a:p>
            <a:pPr indent="0" marL="0">
              <a:buNone/>
            </a:pPr>
            <a:r>
              <a:rPr lang="en-US" sz="1300" b="1" dirty="0">
                <a:solidFill>
                  <a:srgbClr val="D9A521"/>
                </a:solidFill>
                <a:latin typeface="Cambria" pitchFamily="34" charset="0"/>
                <a:ea typeface="Cambria" pitchFamily="34" charset="-122"/>
                <a:cs typeface="Cambria" pitchFamily="34" charset="-120"/>
              </a:rPr>
              <a:t>Yield</a:t>
            </a:r>
            <a:endParaRPr lang="en-US" sz="1300" dirty="0"/>
          </a:p>
        </p:txBody>
      </p:sp>
      <p:sp>
        <p:nvSpPr>
          <p:cNvPr id="26" name="Text 24"/>
          <p:cNvSpPr/>
          <p:nvPr/>
        </p:nvSpPr>
        <p:spPr>
          <a:xfrm>
            <a:off x="5056632" y="5074920"/>
            <a:ext cx="173736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kg/hectare</a:t>
            </a:r>
            <a:endParaRPr lang="en-US" sz="950" dirty="0"/>
          </a:p>
        </p:txBody>
      </p:sp>
      <p:sp>
        <p:nvSpPr>
          <p:cNvPr id="27" name="Text 25"/>
          <p:cNvSpPr/>
          <p:nvPr/>
        </p:nvSpPr>
        <p:spPr>
          <a:xfrm>
            <a:off x="5056632" y="5294376"/>
            <a:ext cx="1737360" cy="219456"/>
          </a:xfrm>
          <a:prstGeom prst="rect">
            <a:avLst/>
          </a:prstGeom>
          <a:noFill/>
          <a:ln/>
        </p:spPr>
        <p:txBody>
          <a:bodyPr wrap="square" lIns="0" tIns="0" rIns="0" bIns="0" rtlCol="0" anchor="ctr"/>
          <a:lstStyle/>
          <a:p>
            <a:pPr indent="0" marL="0">
              <a:buNone/>
            </a:pPr>
            <a:r>
              <a:rPr lang="en-US" sz="860" dirty="0">
                <a:solidFill>
                  <a:srgbClr val="97BC62"/>
                </a:solidFill>
                <a:latin typeface="Calibri" pitchFamily="34" charset="0"/>
                <a:ea typeface="Calibri" pitchFamily="34" charset="-122"/>
                <a:cs typeface="Calibri" pitchFamily="34" charset="-120"/>
              </a:rPr>
              <a:t>1950-51 → 2025-26</a:t>
            </a:r>
            <a:endParaRPr lang="en-US" sz="860" dirty="0"/>
          </a:p>
        </p:txBody>
      </p:sp>
      <p:sp>
        <p:nvSpPr>
          <p:cNvPr id="28" name="Shape 26"/>
          <p:cNvSpPr/>
          <p:nvPr/>
        </p:nvSpPr>
        <p:spPr>
          <a:xfrm>
            <a:off x="7050024" y="4709160"/>
            <a:ext cx="1938528" cy="987552"/>
          </a:xfrm>
          <a:prstGeom prst="roundRect">
            <a:avLst>
              <a:gd name="adj" fmla="val 5556"/>
            </a:avLst>
          </a:prstGeom>
          <a:solidFill>
            <a:srgbClr val="27552A"/>
          </a:solidFill>
          <a:ln w="12700">
            <a:solidFill>
              <a:srgbClr val="3E7B31"/>
            </a:solidFill>
            <a:prstDash val="solid"/>
          </a:ln>
        </p:spPr>
      </p:sp>
      <p:sp>
        <p:nvSpPr>
          <p:cNvPr id="29" name="Text 27"/>
          <p:cNvSpPr/>
          <p:nvPr/>
        </p:nvSpPr>
        <p:spPr>
          <a:xfrm>
            <a:off x="7178040" y="4809744"/>
            <a:ext cx="1737360" cy="256032"/>
          </a:xfrm>
          <a:prstGeom prst="rect">
            <a:avLst/>
          </a:prstGeom>
          <a:noFill/>
          <a:ln/>
        </p:spPr>
        <p:txBody>
          <a:bodyPr wrap="square" lIns="0" tIns="0" rIns="0" bIns="0" rtlCol="0" anchor="ctr"/>
          <a:lstStyle/>
          <a:p>
            <a:pPr indent="0" marL="0">
              <a:buNone/>
            </a:pPr>
            <a:r>
              <a:rPr lang="en-US" sz="1300" b="1" dirty="0">
                <a:solidFill>
                  <a:srgbClr val="D9A521"/>
                </a:solidFill>
                <a:latin typeface="Cambria" pitchFamily="34" charset="0"/>
                <a:ea typeface="Cambria" pitchFamily="34" charset="-122"/>
                <a:cs typeface="Cambria" pitchFamily="34" charset="-120"/>
              </a:rPr>
              <a:t>Production</a:t>
            </a:r>
            <a:endParaRPr lang="en-US" sz="1300" dirty="0"/>
          </a:p>
        </p:txBody>
      </p:sp>
      <p:sp>
        <p:nvSpPr>
          <p:cNvPr id="30" name="Text 28"/>
          <p:cNvSpPr/>
          <p:nvPr/>
        </p:nvSpPr>
        <p:spPr>
          <a:xfrm>
            <a:off x="7178040" y="5074920"/>
            <a:ext cx="1737360" cy="21945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lakh tonnes</a:t>
            </a:r>
            <a:endParaRPr lang="en-US" sz="950" dirty="0"/>
          </a:p>
        </p:txBody>
      </p:sp>
      <p:sp>
        <p:nvSpPr>
          <p:cNvPr id="31" name="Text 29"/>
          <p:cNvSpPr/>
          <p:nvPr/>
        </p:nvSpPr>
        <p:spPr>
          <a:xfrm>
            <a:off x="7178040" y="5294376"/>
            <a:ext cx="1737360" cy="219456"/>
          </a:xfrm>
          <a:prstGeom prst="rect">
            <a:avLst/>
          </a:prstGeom>
          <a:noFill/>
          <a:ln/>
        </p:spPr>
        <p:txBody>
          <a:bodyPr wrap="square" lIns="0" tIns="0" rIns="0" bIns="0" rtlCol="0" anchor="ctr"/>
          <a:lstStyle/>
          <a:p>
            <a:pPr indent="0" marL="0">
              <a:buNone/>
            </a:pPr>
            <a:r>
              <a:rPr lang="en-US" sz="860" dirty="0">
                <a:solidFill>
                  <a:srgbClr val="97BC62"/>
                </a:solidFill>
                <a:latin typeface="Calibri" pitchFamily="34" charset="0"/>
                <a:ea typeface="Calibri" pitchFamily="34" charset="-122"/>
                <a:cs typeface="Calibri" pitchFamily="34" charset="-120"/>
              </a:rPr>
              <a:t>1950-51 → 2025-26</a:t>
            </a:r>
            <a:endParaRPr lang="en-US" sz="860" dirty="0"/>
          </a:p>
        </p:txBody>
      </p:sp>
      <p:sp>
        <p:nvSpPr>
          <p:cNvPr id="32" name="Text 30"/>
          <p:cNvSpPr/>
          <p:nvPr/>
        </p:nvSpPr>
        <p:spPr>
          <a:xfrm>
            <a:off x="685800" y="5961888"/>
            <a:ext cx="8503920" cy="274320"/>
          </a:xfrm>
          <a:prstGeom prst="rect">
            <a:avLst/>
          </a:prstGeom>
          <a:noFill/>
          <a:ln/>
        </p:spPr>
        <p:txBody>
          <a:bodyPr wrap="square" lIns="0" tIns="0" rIns="0" bIns="0" rtlCol="0" anchor="ctr"/>
          <a:lstStyle/>
          <a:p>
            <a:pPr indent="0" marL="0">
              <a:buNone/>
            </a:pPr>
            <a:r>
              <a:rPr lang="en-US" sz="900" i="1" dirty="0">
                <a:solidFill>
                  <a:srgbClr val="97BC62"/>
                </a:solidFill>
                <a:latin typeface="Calibri" pitchFamily="34" charset="0"/>
                <a:ea typeface="Calibri" pitchFamily="34" charset="-122"/>
                <a:cs typeface="Calibri" pitchFamily="34" charset="-120"/>
              </a:rPr>
              <a:t>All-India rice. Ministry of Agriculture &amp; Farmers Welfare / CACP, as supplied in Dattansh.xlsx. No external data used.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100" b="1" spc="160" kern="0" dirty="0">
                <a:solidFill>
                  <a:srgbClr val="D9A521"/>
                </a:solidFill>
                <a:latin typeface="Calibri" pitchFamily="34" charset="0"/>
                <a:ea typeface="Calibri" pitchFamily="34" charset="-122"/>
                <a:cs typeface="Calibri" pitchFamily="34" charset="-120"/>
              </a:rPr>
              <a:t>01  TREND ANALYSIS &amp; GROWTH DECOMPOSITION</a:t>
            </a:r>
            <a:endParaRPr lang="en-US" sz="1100" dirty="0"/>
          </a:p>
        </p:txBody>
      </p:sp>
      <p:sp>
        <p:nvSpPr>
          <p:cNvPr id="3" name="Text 1"/>
          <p:cNvSpPr/>
          <p:nvPr/>
        </p:nvSpPr>
        <p:spPr>
          <a:xfrm>
            <a:off x="502920" y="603504"/>
            <a:ext cx="11155680" cy="658368"/>
          </a:xfrm>
          <a:prstGeom prst="rect">
            <a:avLst/>
          </a:prstGeom>
          <a:noFill/>
          <a:ln/>
        </p:spPr>
        <p:txBody>
          <a:bodyPr wrap="square" lIns="0" tIns="0" rIns="0" bIns="0" rtlCol="0" anchor="ctr"/>
          <a:lstStyle/>
          <a:p>
            <a:pPr indent="0" marL="0">
              <a:lnSpc>
                <a:spcPts val="2900"/>
              </a:lnSpc>
              <a:buNone/>
            </a:pPr>
            <a:r>
              <a:rPr lang="en-US" sz="2500" b="1" dirty="0">
                <a:solidFill>
                  <a:srgbClr val="1E4620"/>
                </a:solidFill>
                <a:latin typeface="Cambria" pitchFamily="34" charset="0"/>
                <a:ea typeface="Cambria" pitchFamily="34" charset="-122"/>
                <a:cs typeface="Cambria" pitchFamily="34" charset="-120"/>
              </a:rPr>
              <a:t>Yield built this crop — but since 2011 the growth engine has quietly switched to land</a:t>
            </a:r>
            <a:endParaRPr lang="en-US" sz="2500" dirty="0"/>
          </a:p>
        </p:txBody>
      </p:sp>
      <p:graphicFrame>
        <p:nvGraphicFramePr>
          <p:cNvPr id="4" name="Chart 0" descr=""/>
          <p:cNvGraphicFramePr/>
          <p:nvPr/>
        </p:nvGraphicFramePr>
        <p:xfrm>
          <a:off x="502920" y="1389888"/>
          <a:ext cx="6720840" cy="2907792"/>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452360" y="1389888"/>
            <a:ext cx="4206240" cy="237744"/>
          </a:xfrm>
          <a:prstGeom prst="rect">
            <a:avLst/>
          </a:prstGeom>
          <a:noFill/>
          <a:ln/>
        </p:spPr>
        <p:txBody>
          <a:bodyPr wrap="square" lIns="0" tIns="0" rIns="0" bIns="0" rtlCol="0" anchor="ctr"/>
          <a:lstStyle/>
          <a:p>
            <a:pPr indent="0" marL="0">
              <a:buNone/>
            </a:pPr>
            <a:r>
              <a:rPr lang="en-US" sz="1150" b="1" dirty="0">
                <a:solidFill>
                  <a:srgbClr val="1E4620"/>
                </a:solidFill>
                <a:latin typeface="Cambria" pitchFamily="34" charset="0"/>
                <a:ea typeface="Cambria" pitchFamily="34" charset="-122"/>
                <a:cs typeface="Cambria" pitchFamily="34" charset="-120"/>
              </a:rPr>
              <a:t>Inflection points</a:t>
            </a:r>
            <a:endParaRPr lang="en-US" sz="1150" dirty="0"/>
          </a:p>
        </p:txBody>
      </p:sp>
      <p:sp>
        <p:nvSpPr>
          <p:cNvPr id="6" name="Shape 3"/>
          <p:cNvSpPr/>
          <p:nvPr/>
        </p:nvSpPr>
        <p:spPr>
          <a:xfrm>
            <a:off x="7452360" y="1700784"/>
            <a:ext cx="274320" cy="274320"/>
          </a:xfrm>
          <a:prstGeom prst="ellipse">
            <a:avLst/>
          </a:prstGeom>
          <a:solidFill>
            <a:srgbClr val="1E4620"/>
          </a:solidFill>
          <a:ln/>
        </p:spPr>
      </p:sp>
      <p:sp>
        <p:nvSpPr>
          <p:cNvPr id="7" name="Text 4"/>
          <p:cNvSpPr/>
          <p:nvPr/>
        </p:nvSpPr>
        <p:spPr>
          <a:xfrm>
            <a:off x="7452360" y="170078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5"/>
          <p:cNvSpPr/>
          <p:nvPr/>
        </p:nvSpPr>
        <p:spPr>
          <a:xfrm>
            <a:off x="7827264" y="1682496"/>
            <a:ext cx="3840480" cy="237744"/>
          </a:xfrm>
          <a:prstGeom prst="rect">
            <a:avLst/>
          </a:prstGeom>
          <a:noFill/>
          <a:ln/>
        </p:spPr>
        <p:txBody>
          <a:bodyPr wrap="square" lIns="0" tIns="0" rIns="0" bIns="0" rtlCol="0" anchor="ctr"/>
          <a:lstStyle/>
          <a:p>
            <a:pPr indent="0" marL="0">
              <a:buNone/>
            </a:pPr>
            <a:r>
              <a:rPr lang="en-US" sz="1050" b="1" dirty="0">
                <a:solidFill>
                  <a:srgbClr val="1E4620"/>
                </a:solidFill>
                <a:latin typeface="Calibri" pitchFamily="34" charset="0"/>
                <a:ea typeface="Calibri" pitchFamily="34" charset="-122"/>
                <a:cs typeface="Calibri" pitchFamily="34" charset="-120"/>
              </a:rPr>
              <a:t>1965-75</a:t>
            </a:r>
            <a:endParaRPr lang="en-US" sz="1050" dirty="0"/>
          </a:p>
        </p:txBody>
      </p:sp>
      <p:sp>
        <p:nvSpPr>
          <p:cNvPr id="9" name="Text 6"/>
          <p:cNvSpPr/>
          <p:nvPr/>
        </p:nvSpPr>
        <p:spPr>
          <a:xfrm>
            <a:off x="7827264" y="1883664"/>
            <a:ext cx="3840480" cy="566928"/>
          </a:xfrm>
          <a:prstGeom prst="rect">
            <a:avLst/>
          </a:prstGeom>
          <a:noFill/>
          <a:ln/>
        </p:spPr>
        <p:txBody>
          <a:bodyPr wrap="square" lIns="0" tIns="0" rIns="0" bIns="0" rtlCol="0" anchor="ctr"/>
          <a:lstStyle/>
          <a:p>
            <a:pPr indent="0" marL="0">
              <a:lnSpc>
                <a:spcPts val="1150"/>
              </a:lnSpc>
              <a:buNone/>
            </a:pPr>
            <a:r>
              <a:rPr lang="en-US" sz="930" dirty="0">
                <a:solidFill>
                  <a:srgbClr val="1C2419"/>
                </a:solidFill>
                <a:latin typeface="Calibri" pitchFamily="34" charset="0"/>
                <a:ea typeface="Calibri" pitchFamily="34" charset="-122"/>
                <a:cs typeface="Calibri" pitchFamily="34" charset="-120"/>
              </a:rPr>
              <a:t>Green Revolution. Yield CAGR peaks at 3.66% — the fastest productivity decade on record.</a:t>
            </a:r>
            <a:endParaRPr lang="en-US" sz="930" dirty="0"/>
          </a:p>
        </p:txBody>
      </p:sp>
      <p:sp>
        <p:nvSpPr>
          <p:cNvPr id="10" name="Shape 7"/>
          <p:cNvSpPr/>
          <p:nvPr/>
        </p:nvSpPr>
        <p:spPr>
          <a:xfrm>
            <a:off x="7452360" y="2569464"/>
            <a:ext cx="274320" cy="274320"/>
          </a:xfrm>
          <a:prstGeom prst="ellipse">
            <a:avLst/>
          </a:prstGeom>
          <a:solidFill>
            <a:srgbClr val="1E4620"/>
          </a:solidFill>
          <a:ln/>
        </p:spPr>
      </p:sp>
      <p:sp>
        <p:nvSpPr>
          <p:cNvPr id="11" name="Text 8"/>
          <p:cNvSpPr/>
          <p:nvPr/>
        </p:nvSpPr>
        <p:spPr>
          <a:xfrm>
            <a:off x="7452360" y="25694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9"/>
          <p:cNvSpPr/>
          <p:nvPr/>
        </p:nvSpPr>
        <p:spPr>
          <a:xfrm>
            <a:off x="7827264" y="2551176"/>
            <a:ext cx="3840480" cy="237744"/>
          </a:xfrm>
          <a:prstGeom prst="rect">
            <a:avLst/>
          </a:prstGeom>
          <a:noFill/>
          <a:ln/>
        </p:spPr>
        <p:txBody>
          <a:bodyPr wrap="square" lIns="0" tIns="0" rIns="0" bIns="0" rtlCol="0" anchor="ctr"/>
          <a:lstStyle/>
          <a:p>
            <a:pPr indent="0" marL="0">
              <a:buNone/>
            </a:pPr>
            <a:r>
              <a:rPr lang="en-US" sz="1050" b="1" dirty="0">
                <a:solidFill>
                  <a:srgbClr val="1E4620"/>
                </a:solidFill>
                <a:latin typeface="Calibri" pitchFamily="34" charset="0"/>
                <a:ea typeface="Calibri" pitchFamily="34" charset="-122"/>
                <a:cs typeface="Calibri" pitchFamily="34" charset="-120"/>
              </a:rPr>
              <a:t>1991-2010</a:t>
            </a:r>
            <a:endParaRPr lang="en-US" sz="1050" dirty="0"/>
          </a:p>
        </p:txBody>
      </p:sp>
      <p:sp>
        <p:nvSpPr>
          <p:cNvPr id="13" name="Text 10"/>
          <p:cNvSpPr/>
          <p:nvPr/>
        </p:nvSpPr>
        <p:spPr>
          <a:xfrm>
            <a:off x="7827264" y="2752344"/>
            <a:ext cx="3840480" cy="566928"/>
          </a:xfrm>
          <a:prstGeom prst="rect">
            <a:avLst/>
          </a:prstGeom>
          <a:noFill/>
          <a:ln/>
        </p:spPr>
        <p:txBody>
          <a:bodyPr wrap="square" lIns="0" tIns="0" rIns="0" bIns="0" rtlCol="0" anchor="ctr"/>
          <a:lstStyle/>
          <a:p>
            <a:pPr indent="0" marL="0">
              <a:lnSpc>
                <a:spcPts val="1150"/>
              </a:lnSpc>
              <a:buNone/>
            </a:pPr>
            <a:r>
              <a:rPr lang="en-US" sz="930" dirty="0">
                <a:solidFill>
                  <a:srgbClr val="1C2419"/>
                </a:solidFill>
                <a:latin typeface="Calibri" pitchFamily="34" charset="0"/>
                <a:ea typeface="Calibri" pitchFamily="34" charset="-122"/>
                <a:cs typeface="Calibri" pitchFamily="34" charset="-120"/>
              </a:rPr>
              <a:t>Area growth flatlines at 0.03%. Yield alone carries 98% of production growth.</a:t>
            </a:r>
            <a:endParaRPr lang="en-US" sz="930" dirty="0"/>
          </a:p>
        </p:txBody>
      </p:sp>
      <p:sp>
        <p:nvSpPr>
          <p:cNvPr id="14" name="Shape 11"/>
          <p:cNvSpPr/>
          <p:nvPr/>
        </p:nvSpPr>
        <p:spPr>
          <a:xfrm>
            <a:off x="7452360" y="3438144"/>
            <a:ext cx="274320" cy="274320"/>
          </a:xfrm>
          <a:prstGeom prst="ellipse">
            <a:avLst/>
          </a:prstGeom>
          <a:solidFill>
            <a:srgbClr val="1E4620"/>
          </a:solidFill>
          <a:ln/>
        </p:spPr>
      </p:sp>
      <p:sp>
        <p:nvSpPr>
          <p:cNvPr id="15" name="Text 12"/>
          <p:cNvSpPr/>
          <p:nvPr/>
        </p:nvSpPr>
        <p:spPr>
          <a:xfrm>
            <a:off x="7452360" y="343814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3"/>
          <p:cNvSpPr/>
          <p:nvPr/>
        </p:nvSpPr>
        <p:spPr>
          <a:xfrm>
            <a:off x="7827264" y="3419856"/>
            <a:ext cx="3840480" cy="237744"/>
          </a:xfrm>
          <a:prstGeom prst="rect">
            <a:avLst/>
          </a:prstGeom>
          <a:noFill/>
          <a:ln/>
        </p:spPr>
        <p:txBody>
          <a:bodyPr wrap="square" lIns="0" tIns="0" rIns="0" bIns="0" rtlCol="0" anchor="ctr"/>
          <a:lstStyle/>
          <a:p>
            <a:pPr indent="0" marL="0">
              <a:buNone/>
            </a:pPr>
            <a:r>
              <a:rPr lang="en-US" sz="1050" b="1" dirty="0">
                <a:solidFill>
                  <a:srgbClr val="1E4620"/>
                </a:solidFill>
                <a:latin typeface="Calibri" pitchFamily="34" charset="0"/>
                <a:ea typeface="Calibri" pitchFamily="34" charset="-122"/>
                <a:cs typeface="Calibri" pitchFamily="34" charset="-120"/>
              </a:rPr>
              <a:t>2011-25</a:t>
            </a:r>
            <a:endParaRPr lang="en-US" sz="1050" dirty="0"/>
          </a:p>
        </p:txBody>
      </p:sp>
      <p:sp>
        <p:nvSpPr>
          <p:cNvPr id="17" name="Text 14"/>
          <p:cNvSpPr/>
          <p:nvPr/>
        </p:nvSpPr>
        <p:spPr>
          <a:xfrm>
            <a:off x="7827264" y="3621024"/>
            <a:ext cx="3840480" cy="566928"/>
          </a:xfrm>
          <a:prstGeom prst="rect">
            <a:avLst/>
          </a:prstGeom>
          <a:noFill/>
          <a:ln/>
        </p:spPr>
        <p:txBody>
          <a:bodyPr wrap="square" lIns="0" tIns="0" rIns="0" bIns="0" rtlCol="0" anchor="ctr"/>
          <a:lstStyle/>
          <a:p>
            <a:pPr indent="0" marL="0">
              <a:lnSpc>
                <a:spcPts val="1150"/>
              </a:lnSpc>
              <a:buNone/>
            </a:pPr>
            <a:r>
              <a:rPr lang="en-US" sz="930" dirty="0">
                <a:solidFill>
                  <a:srgbClr val="1C2419"/>
                </a:solidFill>
                <a:latin typeface="Calibri" pitchFamily="34" charset="0"/>
                <a:ea typeface="Calibri" pitchFamily="34" charset="-122"/>
                <a:cs typeface="Calibri" pitchFamily="34" charset="-120"/>
              </a:rPr>
              <a:t>Area rebounds to 1.31% while yield slows to 1.42%. The mix inverts.</a:t>
            </a:r>
            <a:endParaRPr lang="en-US" sz="930" dirty="0"/>
          </a:p>
        </p:txBody>
      </p:sp>
      <p:sp>
        <p:nvSpPr>
          <p:cNvPr id="18" name="Shape 15"/>
          <p:cNvSpPr/>
          <p:nvPr/>
        </p:nvSpPr>
        <p:spPr>
          <a:xfrm>
            <a:off x="502920" y="4498848"/>
            <a:ext cx="2761488" cy="1207008"/>
          </a:xfrm>
          <a:prstGeom prst="roundRect">
            <a:avLst>
              <a:gd name="adj" fmla="val 4545"/>
            </a:avLst>
          </a:prstGeom>
          <a:solidFill>
            <a:srgbClr val="F2F5EE"/>
          </a:solidFill>
          <a:ln w="12700">
            <a:solidFill>
              <a:srgbClr val="DCE3D6"/>
            </a:solidFill>
            <a:prstDash val="solid"/>
          </a:ln>
        </p:spPr>
      </p:sp>
      <p:sp>
        <p:nvSpPr>
          <p:cNvPr id="19" name="Text 16"/>
          <p:cNvSpPr/>
          <p:nvPr/>
        </p:nvSpPr>
        <p:spPr>
          <a:xfrm>
            <a:off x="630936" y="4590288"/>
            <a:ext cx="2505456" cy="475488"/>
          </a:xfrm>
          <a:prstGeom prst="rect">
            <a:avLst/>
          </a:prstGeom>
          <a:noFill/>
          <a:ln/>
        </p:spPr>
        <p:txBody>
          <a:bodyPr wrap="square" lIns="0" tIns="0" rIns="0" bIns="0" rtlCol="0" anchor="ctr"/>
          <a:lstStyle/>
          <a:p>
            <a:pPr indent="0" marL="0">
              <a:buNone/>
            </a:pPr>
            <a:r>
              <a:rPr lang="en-US" sz="2700" b="1" dirty="0">
                <a:solidFill>
                  <a:srgbClr val="1E4620"/>
                </a:solidFill>
                <a:latin typeface="Cambria" pitchFamily="34" charset="0"/>
                <a:ea typeface="Cambria" pitchFamily="34" charset="-122"/>
                <a:cs typeface="Cambria" pitchFamily="34" charset="-120"/>
              </a:rPr>
              <a:t>74.7%</a:t>
            </a:r>
            <a:endParaRPr lang="en-US" sz="2700" dirty="0"/>
          </a:p>
        </p:txBody>
      </p:sp>
      <p:sp>
        <p:nvSpPr>
          <p:cNvPr id="20" name="Text 17"/>
          <p:cNvSpPr/>
          <p:nvPr/>
        </p:nvSpPr>
        <p:spPr>
          <a:xfrm>
            <a:off x="630936" y="5065776"/>
            <a:ext cx="2505456" cy="256032"/>
          </a:xfrm>
          <a:prstGeom prst="rect">
            <a:avLst/>
          </a:prstGeom>
          <a:noFill/>
          <a:ln/>
        </p:spPr>
        <p:txBody>
          <a:bodyPr wrap="square" lIns="0" tIns="0" rIns="0" bIns="0" rtlCol="0" anchor="ctr"/>
          <a:lstStyle/>
          <a:p>
            <a:pPr indent="0" marL="0">
              <a:buNone/>
            </a:pPr>
            <a:r>
              <a:rPr lang="en-US" sz="1050" b="1" dirty="0">
                <a:solidFill>
                  <a:srgbClr val="1C2419"/>
                </a:solidFill>
                <a:latin typeface="Calibri" pitchFamily="34" charset="0"/>
                <a:ea typeface="Calibri" pitchFamily="34" charset="-122"/>
                <a:cs typeface="Calibri" pitchFamily="34" charset="-120"/>
              </a:rPr>
              <a:t>Yield share of production growth</a:t>
            </a:r>
            <a:endParaRPr lang="en-US" sz="1050" dirty="0"/>
          </a:p>
        </p:txBody>
      </p:sp>
      <p:sp>
        <p:nvSpPr>
          <p:cNvPr id="21" name="Text 18"/>
          <p:cNvSpPr/>
          <p:nvPr/>
        </p:nvSpPr>
        <p:spPr>
          <a:xfrm>
            <a:off x="630936" y="5303520"/>
            <a:ext cx="2505456" cy="329184"/>
          </a:xfrm>
          <a:prstGeom prst="rect">
            <a:avLst/>
          </a:prstGeom>
          <a:noFill/>
          <a:ln/>
        </p:spPr>
        <p:txBody>
          <a:bodyPr wrap="square" lIns="0" tIns="0" rIns="0" bIns="0" rtlCol="0" anchor="ctr"/>
          <a:lstStyle/>
          <a:p>
            <a:pPr indent="0" marL="0">
              <a:lnSpc>
                <a:spcPts val="1100"/>
              </a:lnSpc>
              <a:buNone/>
            </a:pPr>
            <a:r>
              <a:rPr lang="en-US" sz="880" dirty="0">
                <a:solidFill>
                  <a:srgbClr val="6E7A66"/>
                </a:solidFill>
                <a:latin typeface="Calibri" pitchFamily="34" charset="0"/>
                <a:ea typeface="Calibri" pitchFamily="34" charset="-122"/>
                <a:cs typeface="Calibri" pitchFamily="34" charset="-120"/>
              </a:rPr>
              <a:t>1975-2025. Area expansion contributed the other 25.3%.</a:t>
            </a:r>
            <a:endParaRPr lang="en-US" sz="880" dirty="0"/>
          </a:p>
        </p:txBody>
      </p:sp>
      <p:sp>
        <p:nvSpPr>
          <p:cNvPr id="22" name="Shape 19"/>
          <p:cNvSpPr/>
          <p:nvPr/>
        </p:nvSpPr>
        <p:spPr>
          <a:xfrm>
            <a:off x="3410712" y="4498848"/>
            <a:ext cx="2761488" cy="1207008"/>
          </a:xfrm>
          <a:prstGeom prst="roundRect">
            <a:avLst>
              <a:gd name="adj" fmla="val 4545"/>
            </a:avLst>
          </a:prstGeom>
          <a:solidFill>
            <a:srgbClr val="F2F5EE"/>
          </a:solidFill>
          <a:ln w="12700">
            <a:solidFill>
              <a:srgbClr val="DCE3D6"/>
            </a:solidFill>
            <a:prstDash val="solid"/>
          </a:ln>
        </p:spPr>
      </p:sp>
      <p:sp>
        <p:nvSpPr>
          <p:cNvPr id="23" name="Text 20"/>
          <p:cNvSpPr/>
          <p:nvPr/>
        </p:nvSpPr>
        <p:spPr>
          <a:xfrm>
            <a:off x="3538728" y="4590288"/>
            <a:ext cx="2505456" cy="475488"/>
          </a:xfrm>
          <a:prstGeom prst="rect">
            <a:avLst/>
          </a:prstGeom>
          <a:noFill/>
          <a:ln/>
        </p:spPr>
        <p:txBody>
          <a:bodyPr wrap="square" lIns="0" tIns="0" rIns="0" bIns="0" rtlCol="0" anchor="ctr"/>
          <a:lstStyle/>
          <a:p>
            <a:pPr indent="0" marL="0">
              <a:buNone/>
            </a:pPr>
            <a:r>
              <a:rPr lang="en-US" sz="2700" b="1" dirty="0">
                <a:solidFill>
                  <a:srgbClr val="D9A521"/>
                </a:solidFill>
                <a:latin typeface="Cambria" pitchFamily="34" charset="0"/>
                <a:ea typeface="Cambria" pitchFamily="34" charset="-122"/>
                <a:cs typeface="Cambria" pitchFamily="34" charset="-120"/>
              </a:rPr>
              <a:t>2.0% → 48.1%</a:t>
            </a:r>
            <a:endParaRPr lang="en-US" sz="2700" dirty="0"/>
          </a:p>
        </p:txBody>
      </p:sp>
      <p:sp>
        <p:nvSpPr>
          <p:cNvPr id="24" name="Text 21"/>
          <p:cNvSpPr/>
          <p:nvPr/>
        </p:nvSpPr>
        <p:spPr>
          <a:xfrm>
            <a:off x="3538728" y="5065776"/>
            <a:ext cx="2505456" cy="256032"/>
          </a:xfrm>
          <a:prstGeom prst="rect">
            <a:avLst/>
          </a:prstGeom>
          <a:noFill/>
          <a:ln/>
        </p:spPr>
        <p:txBody>
          <a:bodyPr wrap="square" lIns="0" tIns="0" rIns="0" bIns="0" rtlCol="0" anchor="ctr"/>
          <a:lstStyle/>
          <a:p>
            <a:pPr indent="0" marL="0">
              <a:buNone/>
            </a:pPr>
            <a:r>
              <a:rPr lang="en-US" sz="1050" b="1" dirty="0">
                <a:solidFill>
                  <a:srgbClr val="1C2419"/>
                </a:solidFill>
                <a:latin typeface="Calibri" pitchFamily="34" charset="0"/>
                <a:ea typeface="Calibri" pitchFamily="34" charset="-122"/>
                <a:cs typeface="Calibri" pitchFamily="34" charset="-120"/>
              </a:rPr>
              <a:t>Area share of growth</a:t>
            </a:r>
            <a:endParaRPr lang="en-US" sz="1050" dirty="0"/>
          </a:p>
        </p:txBody>
      </p:sp>
      <p:sp>
        <p:nvSpPr>
          <p:cNvPr id="25" name="Text 22"/>
          <p:cNvSpPr/>
          <p:nvPr/>
        </p:nvSpPr>
        <p:spPr>
          <a:xfrm>
            <a:off x="3538728" y="5303520"/>
            <a:ext cx="2505456" cy="329184"/>
          </a:xfrm>
          <a:prstGeom prst="rect">
            <a:avLst/>
          </a:prstGeom>
          <a:noFill/>
          <a:ln/>
        </p:spPr>
        <p:txBody>
          <a:bodyPr wrap="square" lIns="0" tIns="0" rIns="0" bIns="0" rtlCol="0" anchor="ctr"/>
          <a:lstStyle/>
          <a:p>
            <a:pPr indent="0" marL="0">
              <a:lnSpc>
                <a:spcPts val="1100"/>
              </a:lnSpc>
              <a:buNone/>
            </a:pPr>
            <a:r>
              <a:rPr lang="en-US" sz="880" dirty="0">
                <a:solidFill>
                  <a:srgbClr val="6E7A66"/>
                </a:solidFill>
                <a:latin typeface="Calibri" pitchFamily="34" charset="0"/>
                <a:ea typeface="Calibri" pitchFamily="34" charset="-122"/>
                <a:cs typeface="Calibri" pitchFamily="34" charset="-120"/>
              </a:rPr>
              <a:t>1991-2010 vs 2011-25. Growth is now half land-driven.</a:t>
            </a:r>
            <a:endParaRPr lang="en-US" sz="880" dirty="0"/>
          </a:p>
        </p:txBody>
      </p:sp>
      <p:sp>
        <p:nvSpPr>
          <p:cNvPr id="26" name="Shape 23"/>
          <p:cNvSpPr/>
          <p:nvPr/>
        </p:nvSpPr>
        <p:spPr>
          <a:xfrm>
            <a:off x="6318504" y="4498848"/>
            <a:ext cx="2761488" cy="1207008"/>
          </a:xfrm>
          <a:prstGeom prst="roundRect">
            <a:avLst>
              <a:gd name="adj" fmla="val 4545"/>
            </a:avLst>
          </a:prstGeom>
          <a:solidFill>
            <a:srgbClr val="F2F5EE"/>
          </a:solidFill>
          <a:ln w="12700">
            <a:solidFill>
              <a:srgbClr val="DCE3D6"/>
            </a:solidFill>
            <a:prstDash val="solid"/>
          </a:ln>
        </p:spPr>
      </p:sp>
      <p:sp>
        <p:nvSpPr>
          <p:cNvPr id="27" name="Text 24"/>
          <p:cNvSpPr/>
          <p:nvPr/>
        </p:nvSpPr>
        <p:spPr>
          <a:xfrm>
            <a:off x="6446520" y="4590288"/>
            <a:ext cx="2505456" cy="475488"/>
          </a:xfrm>
          <a:prstGeom prst="rect">
            <a:avLst/>
          </a:prstGeom>
          <a:noFill/>
          <a:ln/>
        </p:spPr>
        <p:txBody>
          <a:bodyPr wrap="square" lIns="0" tIns="0" rIns="0" bIns="0" rtlCol="0" anchor="ctr"/>
          <a:lstStyle/>
          <a:p>
            <a:pPr indent="0" marL="0">
              <a:buNone/>
            </a:pPr>
            <a:r>
              <a:rPr lang="en-US" sz="2700" b="1" dirty="0">
                <a:solidFill>
                  <a:srgbClr val="1E4620"/>
                </a:solidFill>
                <a:latin typeface="Cambria" pitchFamily="34" charset="0"/>
                <a:ea typeface="Cambria" pitchFamily="34" charset="-122"/>
                <a:cs typeface="Cambria" pitchFamily="34" charset="-120"/>
              </a:rPr>
              <a:t>4.1×</a:t>
            </a:r>
            <a:endParaRPr lang="en-US" sz="2700" dirty="0"/>
          </a:p>
        </p:txBody>
      </p:sp>
      <p:sp>
        <p:nvSpPr>
          <p:cNvPr id="28" name="Text 25"/>
          <p:cNvSpPr/>
          <p:nvPr/>
        </p:nvSpPr>
        <p:spPr>
          <a:xfrm>
            <a:off x="6446520" y="5065776"/>
            <a:ext cx="2505456" cy="256032"/>
          </a:xfrm>
          <a:prstGeom prst="rect">
            <a:avLst/>
          </a:prstGeom>
          <a:noFill/>
          <a:ln/>
        </p:spPr>
        <p:txBody>
          <a:bodyPr wrap="square" lIns="0" tIns="0" rIns="0" bIns="0" rtlCol="0" anchor="ctr"/>
          <a:lstStyle/>
          <a:p>
            <a:pPr indent="0" marL="0">
              <a:buNone/>
            </a:pPr>
            <a:r>
              <a:rPr lang="en-US" sz="1050" b="1" dirty="0">
                <a:solidFill>
                  <a:srgbClr val="1C2419"/>
                </a:solidFill>
                <a:latin typeface="Calibri" pitchFamily="34" charset="0"/>
                <a:ea typeface="Calibri" pitchFamily="34" charset="-122"/>
                <a:cs typeface="Calibri" pitchFamily="34" charset="-120"/>
              </a:rPr>
              <a:t>MSP grew faster than yield</a:t>
            </a:r>
            <a:endParaRPr lang="en-US" sz="1050" dirty="0"/>
          </a:p>
        </p:txBody>
      </p:sp>
      <p:sp>
        <p:nvSpPr>
          <p:cNvPr id="29" name="Text 26"/>
          <p:cNvSpPr/>
          <p:nvPr/>
        </p:nvSpPr>
        <p:spPr>
          <a:xfrm>
            <a:off x="6446520" y="5303520"/>
            <a:ext cx="2505456" cy="329184"/>
          </a:xfrm>
          <a:prstGeom prst="rect">
            <a:avLst/>
          </a:prstGeom>
          <a:noFill/>
          <a:ln/>
        </p:spPr>
        <p:txBody>
          <a:bodyPr wrap="square" lIns="0" tIns="0" rIns="0" bIns="0" rtlCol="0" anchor="ctr"/>
          <a:lstStyle/>
          <a:p>
            <a:pPr indent="0" marL="0">
              <a:lnSpc>
                <a:spcPts val="1100"/>
              </a:lnSpc>
              <a:buNone/>
            </a:pPr>
            <a:r>
              <a:rPr lang="en-US" sz="880" dirty="0">
                <a:solidFill>
                  <a:srgbClr val="6E7A66"/>
                </a:solidFill>
                <a:latin typeface="Calibri" pitchFamily="34" charset="0"/>
                <a:ea typeface="Calibri" pitchFamily="34" charset="-122"/>
                <a:cs typeface="Calibri" pitchFamily="34" charset="-120"/>
              </a:rPr>
              <a:t>7.18% vs 1.73% CAGR, 1975-2025. Nominal MSP.</a:t>
            </a:r>
            <a:endParaRPr lang="en-US" sz="880" dirty="0"/>
          </a:p>
        </p:txBody>
      </p:sp>
      <p:sp>
        <p:nvSpPr>
          <p:cNvPr id="30" name="Shape 27"/>
          <p:cNvSpPr/>
          <p:nvPr/>
        </p:nvSpPr>
        <p:spPr>
          <a:xfrm>
            <a:off x="9226296" y="4498848"/>
            <a:ext cx="2432304" cy="1207008"/>
          </a:xfrm>
          <a:prstGeom prst="roundRect">
            <a:avLst>
              <a:gd name="adj" fmla="val 4545"/>
            </a:avLst>
          </a:prstGeom>
          <a:solidFill>
            <a:srgbClr val="F2F5EE"/>
          </a:solidFill>
          <a:ln w="12700">
            <a:solidFill>
              <a:srgbClr val="DCE3D6"/>
            </a:solidFill>
            <a:prstDash val="solid"/>
          </a:ln>
        </p:spPr>
      </p:sp>
      <p:sp>
        <p:nvSpPr>
          <p:cNvPr id="31" name="Text 28"/>
          <p:cNvSpPr/>
          <p:nvPr/>
        </p:nvSpPr>
        <p:spPr>
          <a:xfrm>
            <a:off x="9354312" y="4590288"/>
            <a:ext cx="2176272" cy="475488"/>
          </a:xfrm>
          <a:prstGeom prst="rect">
            <a:avLst/>
          </a:prstGeom>
          <a:noFill/>
          <a:ln/>
        </p:spPr>
        <p:txBody>
          <a:bodyPr wrap="square" lIns="0" tIns="0" rIns="0" bIns="0" rtlCol="0" anchor="ctr"/>
          <a:lstStyle/>
          <a:p>
            <a:pPr indent="0" marL="0">
              <a:buNone/>
            </a:pPr>
            <a:r>
              <a:rPr lang="en-US" sz="2700" b="1" dirty="0">
                <a:solidFill>
                  <a:srgbClr val="1E4620"/>
                </a:solidFill>
                <a:latin typeface="Cambria" pitchFamily="34" charset="0"/>
                <a:ea typeface="Cambria" pitchFamily="34" charset="-122"/>
                <a:cs typeface="Cambria" pitchFamily="34" charset="-120"/>
              </a:rPr>
              <a:t>+2.33%</a:t>
            </a:r>
            <a:endParaRPr lang="en-US" sz="2700" dirty="0"/>
          </a:p>
        </p:txBody>
      </p:sp>
      <p:sp>
        <p:nvSpPr>
          <p:cNvPr id="32" name="Text 29"/>
          <p:cNvSpPr/>
          <p:nvPr/>
        </p:nvSpPr>
        <p:spPr>
          <a:xfrm>
            <a:off x="9354312" y="5065776"/>
            <a:ext cx="2176272" cy="256032"/>
          </a:xfrm>
          <a:prstGeom prst="rect">
            <a:avLst/>
          </a:prstGeom>
          <a:noFill/>
          <a:ln/>
        </p:spPr>
        <p:txBody>
          <a:bodyPr wrap="square" lIns="0" tIns="0" rIns="0" bIns="0" rtlCol="0" anchor="ctr"/>
          <a:lstStyle/>
          <a:p>
            <a:pPr indent="0" marL="0">
              <a:buNone/>
            </a:pPr>
            <a:r>
              <a:rPr lang="en-US" sz="1050" b="1" dirty="0">
                <a:solidFill>
                  <a:srgbClr val="1C2419"/>
                </a:solidFill>
                <a:latin typeface="Calibri" pitchFamily="34" charset="0"/>
                <a:ea typeface="Calibri" pitchFamily="34" charset="-122"/>
                <a:cs typeface="Calibri" pitchFamily="34" charset="-120"/>
              </a:rPr>
              <a:t>Production CAGR, MSP era</a:t>
            </a:r>
            <a:endParaRPr lang="en-US" sz="1050" dirty="0"/>
          </a:p>
        </p:txBody>
      </p:sp>
      <p:sp>
        <p:nvSpPr>
          <p:cNvPr id="33" name="Text 30"/>
          <p:cNvSpPr/>
          <p:nvPr/>
        </p:nvSpPr>
        <p:spPr>
          <a:xfrm>
            <a:off x="9354312" y="5303520"/>
            <a:ext cx="2176272" cy="329184"/>
          </a:xfrm>
          <a:prstGeom prst="rect">
            <a:avLst/>
          </a:prstGeom>
          <a:noFill/>
          <a:ln/>
        </p:spPr>
        <p:txBody>
          <a:bodyPr wrap="square" lIns="0" tIns="0" rIns="0" bIns="0" rtlCol="0" anchor="ctr"/>
          <a:lstStyle/>
          <a:p>
            <a:pPr indent="0" marL="0">
              <a:lnSpc>
                <a:spcPts val="1100"/>
              </a:lnSpc>
              <a:buNone/>
            </a:pPr>
            <a:r>
              <a:rPr lang="en-US" sz="880" dirty="0">
                <a:solidFill>
                  <a:srgbClr val="6E7A66"/>
                </a:solidFill>
                <a:latin typeface="Calibri" pitchFamily="34" charset="0"/>
                <a:ea typeface="Calibri" pitchFamily="34" charset="-122"/>
                <a:cs typeface="Calibri" pitchFamily="34" charset="-120"/>
              </a:rPr>
              <a:t>1975-2025, from 726 to 1,540 lakh tonnes.</a:t>
            </a:r>
            <a:endParaRPr lang="en-US" sz="880" dirty="0"/>
          </a:p>
        </p:txBody>
      </p:sp>
      <p:sp>
        <p:nvSpPr>
          <p:cNvPr id="34" name="Text 31"/>
          <p:cNvSpPr/>
          <p:nvPr/>
        </p:nvSpPr>
        <p:spPr>
          <a:xfrm>
            <a:off x="502920" y="5870448"/>
            <a:ext cx="11155680" cy="402336"/>
          </a:xfrm>
          <a:prstGeom prst="rect">
            <a:avLst/>
          </a:prstGeom>
          <a:noFill/>
          <a:ln/>
        </p:spPr>
        <p:txBody>
          <a:bodyPr wrap="square" lIns="0" tIns="0" rIns="0" bIns="0" rtlCol="0" anchor="ctr"/>
          <a:lstStyle/>
          <a:p>
            <a:pPr indent="0" marL="0">
              <a:lnSpc>
                <a:spcPts val="1400"/>
              </a:lnSpc>
              <a:buNone/>
            </a:pPr>
            <a:r>
              <a:rPr lang="en-US" sz="1100" b="1" dirty="0">
                <a:solidFill>
                  <a:srgbClr val="1E4620"/>
                </a:solidFill>
                <a:latin typeface="Calibri" pitchFamily="34" charset="0"/>
                <a:ea typeface="Calibri" pitchFamily="34" charset="-122"/>
                <a:cs typeface="Calibri" pitchFamily="34" charset="-120"/>
              </a:rPr>
              <a:t>So what: land is finite and reversible; productivity is not. A growth model that now leans half on acreage is more exposed to a single bad sowing season than the 1991-2010 model was.</a:t>
            </a:r>
            <a:endParaRPr lang="en-US" sz="1100" dirty="0"/>
          </a:p>
        </p:txBody>
      </p:sp>
      <p:sp>
        <p:nvSpPr>
          <p:cNvPr id="35" name="Text 32"/>
          <p:cNvSpPr/>
          <p:nvPr/>
        </p:nvSpPr>
        <p:spPr>
          <a:xfrm>
            <a:off x="502920" y="6419088"/>
            <a:ext cx="11155680" cy="274320"/>
          </a:xfrm>
          <a:prstGeom prst="rect">
            <a:avLst/>
          </a:prstGeom>
          <a:noFill/>
          <a:ln/>
        </p:spPr>
        <p:txBody>
          <a:bodyPr wrap="square" lIns="0" tIns="0" rIns="0" bIns="0" rtlCol="0" anchor="ctr"/>
          <a:lstStyle/>
          <a:p>
            <a:pPr indent="0" marL="0">
              <a:buNone/>
            </a:pPr>
            <a:r>
              <a:rPr lang="en-US" sz="820" i="1" dirty="0">
                <a:solidFill>
                  <a:srgbClr val="6E7A66"/>
                </a:solidFill>
                <a:latin typeface="Calibri" pitchFamily="34" charset="0"/>
                <a:ea typeface="Calibri" pitchFamily="34" charset="-122"/>
                <a:cs typeface="Calibri" pitchFamily="34" charset="-120"/>
              </a:rPr>
              <a:t>CAGR computed on endpoint years of each period. Growth decomposition is log-additive: ln(Area) growth + ln(Yield) growth = ln(Production) growth. MSP is nominal — no deflator was available within the permitted dataset.</a:t>
            </a:r>
            <a:endParaRPr lang="en-US" sz="8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100" b="1" spc="160" kern="0" dirty="0">
                <a:solidFill>
                  <a:srgbClr val="D9A521"/>
                </a:solidFill>
                <a:latin typeface="Calibri" pitchFamily="34" charset="0"/>
                <a:ea typeface="Calibri" pitchFamily="34" charset="-122"/>
                <a:cs typeface="Calibri" pitchFamily="34" charset="-120"/>
              </a:rPr>
              <a:t>02  CORRELATION, VOLATILITY &amp; SUPPLY RISK</a:t>
            </a:r>
            <a:endParaRPr lang="en-US" sz="1100" dirty="0"/>
          </a:p>
        </p:txBody>
      </p:sp>
      <p:sp>
        <p:nvSpPr>
          <p:cNvPr id="3" name="Text 1"/>
          <p:cNvSpPr/>
          <p:nvPr/>
        </p:nvSpPr>
        <p:spPr>
          <a:xfrm>
            <a:off x="502920" y="603504"/>
            <a:ext cx="11155680" cy="658368"/>
          </a:xfrm>
          <a:prstGeom prst="rect">
            <a:avLst/>
          </a:prstGeom>
          <a:noFill/>
          <a:ln/>
        </p:spPr>
        <p:txBody>
          <a:bodyPr wrap="square" lIns="0" tIns="0" rIns="0" bIns="0" rtlCol="0" anchor="ctr"/>
          <a:lstStyle/>
          <a:p>
            <a:pPr indent="0" marL="0">
              <a:lnSpc>
                <a:spcPts val="2900"/>
              </a:lnSpc>
              <a:buNone/>
            </a:pPr>
            <a:r>
              <a:rPr lang="en-US" sz="2500" b="1" dirty="0">
                <a:solidFill>
                  <a:srgbClr val="1E4620"/>
                </a:solidFill>
                <a:latin typeface="Cambria" pitchFamily="34" charset="0"/>
                <a:ea typeface="Cambria" pitchFamily="34" charset="-122"/>
                <a:cs typeface="Cambria" pitchFamily="34" charset="-120"/>
              </a:rPr>
              <a:t>MSP does not move output — weather does. But supply risk has structurally collapsed.</a:t>
            </a:r>
            <a:endParaRPr lang="en-US" sz="2500" dirty="0"/>
          </a:p>
        </p:txBody>
      </p:sp>
      <p:sp>
        <p:nvSpPr>
          <p:cNvPr id="4" name="Text 2"/>
          <p:cNvSpPr/>
          <p:nvPr/>
        </p:nvSpPr>
        <p:spPr>
          <a:xfrm>
            <a:off x="502920" y="1371600"/>
            <a:ext cx="5486400" cy="237744"/>
          </a:xfrm>
          <a:prstGeom prst="rect">
            <a:avLst/>
          </a:prstGeom>
          <a:noFill/>
          <a:ln/>
        </p:spPr>
        <p:txBody>
          <a:bodyPr wrap="square" lIns="0" tIns="0" rIns="0" bIns="0" rtlCol="0" anchor="ctr"/>
          <a:lstStyle/>
          <a:p>
            <a:pPr indent="0" marL="0">
              <a:buNone/>
            </a:pPr>
            <a:r>
              <a:rPr lang="en-US" sz="1150" b="1" dirty="0">
                <a:solidFill>
                  <a:srgbClr val="1E4620"/>
                </a:solidFill>
                <a:latin typeface="Cambria" pitchFamily="34" charset="0"/>
                <a:ea typeface="Cambria" pitchFamily="34" charset="-122"/>
                <a:cs typeface="Cambria" pitchFamily="34" charset="-120"/>
              </a:rPr>
              <a:t>Correlation collapses once you remove the shared time trend</a:t>
            </a:r>
            <a:endParaRPr lang="en-US" sz="1150" dirty="0"/>
          </a:p>
        </p:txBody>
      </p:sp>
      <p:graphicFrame>
        <p:nvGraphicFramePr>
          <p:cNvPr id="5" name="Chart 0" descr=""/>
          <p:cNvGraphicFramePr/>
          <p:nvPr/>
        </p:nvGraphicFramePr>
        <p:xfrm>
          <a:off x="502920" y="1664208"/>
          <a:ext cx="5486400" cy="239572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263640" y="1371600"/>
            <a:ext cx="5394960" cy="237744"/>
          </a:xfrm>
          <a:prstGeom prst="rect">
            <a:avLst/>
          </a:prstGeom>
          <a:noFill/>
          <a:ln/>
        </p:spPr>
        <p:txBody>
          <a:bodyPr wrap="square" lIns="0" tIns="0" rIns="0" bIns="0" rtlCol="0" anchor="ctr"/>
          <a:lstStyle/>
          <a:p>
            <a:pPr indent="0" marL="0">
              <a:buNone/>
            </a:pPr>
            <a:r>
              <a:rPr lang="en-US" sz="1150" b="1" dirty="0">
                <a:solidFill>
                  <a:srgbClr val="1E4620"/>
                </a:solidFill>
                <a:latin typeface="Cambria" pitchFamily="34" charset="0"/>
                <a:ea typeface="Cambria" pitchFamily="34" charset="-122"/>
                <a:cs typeface="Cambria" pitchFamily="34" charset="-120"/>
              </a:rPr>
              <a:t>Production volatility by policy era</a:t>
            </a:r>
            <a:endParaRPr lang="en-US" sz="1150" dirty="0"/>
          </a:p>
        </p:txBody>
      </p:sp>
      <p:graphicFrame>
        <p:nvGraphicFramePr>
          <p:cNvPr id="7" name="Chart 1" descr=""/>
          <p:cNvGraphicFramePr/>
          <p:nvPr/>
        </p:nvGraphicFramePr>
        <p:xfrm>
          <a:off x="6263640" y="1664208"/>
          <a:ext cx="5394960" cy="2395728"/>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502920" y="4315968"/>
            <a:ext cx="2761488" cy="1207008"/>
          </a:xfrm>
          <a:prstGeom prst="roundRect">
            <a:avLst>
              <a:gd name="adj" fmla="val 4545"/>
            </a:avLst>
          </a:prstGeom>
          <a:solidFill>
            <a:srgbClr val="F2F5EE"/>
          </a:solidFill>
          <a:ln w="12700">
            <a:solidFill>
              <a:srgbClr val="DCE3D6"/>
            </a:solidFill>
            <a:prstDash val="solid"/>
          </a:ln>
        </p:spPr>
      </p:sp>
      <p:sp>
        <p:nvSpPr>
          <p:cNvPr id="9" name="Text 5"/>
          <p:cNvSpPr/>
          <p:nvPr/>
        </p:nvSpPr>
        <p:spPr>
          <a:xfrm>
            <a:off x="630936" y="4407408"/>
            <a:ext cx="2505456" cy="475488"/>
          </a:xfrm>
          <a:prstGeom prst="rect">
            <a:avLst/>
          </a:prstGeom>
          <a:noFill/>
          <a:ln/>
        </p:spPr>
        <p:txBody>
          <a:bodyPr wrap="square" lIns="0" tIns="0" rIns="0" bIns="0" rtlCol="0" anchor="ctr"/>
          <a:lstStyle/>
          <a:p>
            <a:pPr indent="0" marL="0">
              <a:buNone/>
            </a:pPr>
            <a:r>
              <a:rPr lang="en-US" sz="2700" b="1" dirty="0">
                <a:solidFill>
                  <a:srgbClr val="D9A521"/>
                </a:solidFill>
                <a:latin typeface="Cambria" pitchFamily="34" charset="0"/>
                <a:ea typeface="Cambria" pitchFamily="34" charset="-122"/>
                <a:cs typeface="Cambria" pitchFamily="34" charset="-120"/>
              </a:rPr>
              <a:t>0.949 → 0.018</a:t>
            </a:r>
            <a:endParaRPr lang="en-US" sz="2700" dirty="0"/>
          </a:p>
        </p:txBody>
      </p:sp>
      <p:sp>
        <p:nvSpPr>
          <p:cNvPr id="10" name="Text 6"/>
          <p:cNvSpPr/>
          <p:nvPr/>
        </p:nvSpPr>
        <p:spPr>
          <a:xfrm>
            <a:off x="630936" y="4882896"/>
            <a:ext cx="2505456" cy="256032"/>
          </a:xfrm>
          <a:prstGeom prst="rect">
            <a:avLst/>
          </a:prstGeom>
          <a:noFill/>
          <a:ln/>
        </p:spPr>
        <p:txBody>
          <a:bodyPr wrap="square" lIns="0" tIns="0" rIns="0" bIns="0" rtlCol="0" anchor="ctr"/>
          <a:lstStyle/>
          <a:p>
            <a:pPr indent="0" marL="0">
              <a:buNone/>
            </a:pPr>
            <a:r>
              <a:rPr lang="en-US" sz="1050" b="1" dirty="0">
                <a:solidFill>
                  <a:srgbClr val="1C2419"/>
                </a:solidFill>
                <a:latin typeface="Calibri" pitchFamily="34" charset="0"/>
                <a:ea typeface="Calibri" pitchFamily="34" charset="-122"/>
                <a:cs typeface="Calibri" pitchFamily="34" charset="-120"/>
              </a:rPr>
              <a:t>MSP ~ production correlation</a:t>
            </a:r>
            <a:endParaRPr lang="en-US" sz="1050" dirty="0"/>
          </a:p>
        </p:txBody>
      </p:sp>
      <p:sp>
        <p:nvSpPr>
          <p:cNvPr id="11" name="Text 7"/>
          <p:cNvSpPr/>
          <p:nvPr/>
        </p:nvSpPr>
        <p:spPr>
          <a:xfrm>
            <a:off x="630936" y="5120640"/>
            <a:ext cx="2505456" cy="329184"/>
          </a:xfrm>
          <a:prstGeom prst="rect">
            <a:avLst/>
          </a:prstGeom>
          <a:noFill/>
          <a:ln/>
        </p:spPr>
        <p:txBody>
          <a:bodyPr wrap="square" lIns="0" tIns="0" rIns="0" bIns="0" rtlCol="0" anchor="ctr"/>
          <a:lstStyle/>
          <a:p>
            <a:pPr indent="0" marL="0">
              <a:lnSpc>
                <a:spcPts val="1100"/>
              </a:lnSpc>
              <a:buNone/>
            </a:pPr>
            <a:r>
              <a:rPr lang="en-US" sz="880" dirty="0">
                <a:solidFill>
                  <a:srgbClr val="6E7A66"/>
                </a:solidFill>
                <a:latin typeface="Calibri" pitchFamily="34" charset="0"/>
                <a:ea typeface="Calibri" pitchFamily="34" charset="-122"/>
                <a:cs typeface="Calibri" pitchFamily="34" charset="-120"/>
              </a:rPr>
              <a:t>Raw vs detrended. p = 0.90: statistically indistinguishable from zero.</a:t>
            </a:r>
            <a:endParaRPr lang="en-US" sz="880" dirty="0"/>
          </a:p>
        </p:txBody>
      </p:sp>
      <p:sp>
        <p:nvSpPr>
          <p:cNvPr id="12" name="Shape 8"/>
          <p:cNvSpPr/>
          <p:nvPr/>
        </p:nvSpPr>
        <p:spPr>
          <a:xfrm>
            <a:off x="3410712" y="4315968"/>
            <a:ext cx="2761488" cy="1207008"/>
          </a:xfrm>
          <a:prstGeom prst="roundRect">
            <a:avLst>
              <a:gd name="adj" fmla="val 4545"/>
            </a:avLst>
          </a:prstGeom>
          <a:solidFill>
            <a:srgbClr val="F2F5EE"/>
          </a:solidFill>
          <a:ln w="12700">
            <a:solidFill>
              <a:srgbClr val="DCE3D6"/>
            </a:solidFill>
            <a:prstDash val="solid"/>
          </a:ln>
        </p:spPr>
      </p:sp>
      <p:sp>
        <p:nvSpPr>
          <p:cNvPr id="13" name="Text 9"/>
          <p:cNvSpPr/>
          <p:nvPr/>
        </p:nvSpPr>
        <p:spPr>
          <a:xfrm>
            <a:off x="3538728" y="4407408"/>
            <a:ext cx="2505456" cy="475488"/>
          </a:xfrm>
          <a:prstGeom prst="rect">
            <a:avLst/>
          </a:prstGeom>
          <a:noFill/>
          <a:ln/>
        </p:spPr>
        <p:txBody>
          <a:bodyPr wrap="square" lIns="0" tIns="0" rIns="0" bIns="0" rtlCol="0" anchor="ctr"/>
          <a:lstStyle/>
          <a:p>
            <a:pPr indent="0" marL="0">
              <a:buNone/>
            </a:pPr>
            <a:r>
              <a:rPr lang="en-US" sz="2700" b="1" dirty="0">
                <a:solidFill>
                  <a:srgbClr val="1E4620"/>
                </a:solidFill>
                <a:latin typeface="Cambria" pitchFamily="34" charset="0"/>
                <a:ea typeface="Cambria" pitchFamily="34" charset="-122"/>
                <a:cs typeface="Cambria" pitchFamily="34" charset="-120"/>
              </a:rPr>
              <a:t>26 of 29</a:t>
            </a:r>
            <a:endParaRPr lang="en-US" sz="2700" dirty="0"/>
          </a:p>
        </p:txBody>
      </p:sp>
      <p:sp>
        <p:nvSpPr>
          <p:cNvPr id="14" name="Text 10"/>
          <p:cNvSpPr/>
          <p:nvPr/>
        </p:nvSpPr>
        <p:spPr>
          <a:xfrm>
            <a:off x="3538728" y="4882896"/>
            <a:ext cx="2505456" cy="256032"/>
          </a:xfrm>
          <a:prstGeom prst="rect">
            <a:avLst/>
          </a:prstGeom>
          <a:noFill/>
          <a:ln/>
        </p:spPr>
        <p:txBody>
          <a:bodyPr wrap="square" lIns="0" tIns="0" rIns="0" bIns="0" rtlCol="0" anchor="ctr"/>
          <a:lstStyle/>
          <a:p>
            <a:pPr indent="0" marL="0">
              <a:buNone/>
            </a:pPr>
            <a:r>
              <a:rPr lang="en-US" sz="1050" b="1" dirty="0">
                <a:solidFill>
                  <a:srgbClr val="1C2419"/>
                </a:solidFill>
                <a:latin typeface="Calibri" pitchFamily="34" charset="0"/>
                <a:ea typeface="Calibri" pitchFamily="34" charset="-122"/>
                <a:cs typeface="Calibri" pitchFamily="34" charset="-120"/>
              </a:rPr>
              <a:t>Shock years driven by yield</a:t>
            </a:r>
            <a:endParaRPr lang="en-US" sz="1050" dirty="0"/>
          </a:p>
        </p:txBody>
      </p:sp>
      <p:sp>
        <p:nvSpPr>
          <p:cNvPr id="15" name="Text 11"/>
          <p:cNvSpPr/>
          <p:nvPr/>
        </p:nvSpPr>
        <p:spPr>
          <a:xfrm>
            <a:off x="3538728" y="5120640"/>
            <a:ext cx="2505456" cy="329184"/>
          </a:xfrm>
          <a:prstGeom prst="rect">
            <a:avLst/>
          </a:prstGeom>
          <a:noFill/>
          <a:ln/>
        </p:spPr>
        <p:txBody>
          <a:bodyPr wrap="square" lIns="0" tIns="0" rIns="0" bIns="0" rtlCol="0" anchor="ctr"/>
          <a:lstStyle/>
          <a:p>
            <a:pPr indent="0" marL="0">
              <a:lnSpc>
                <a:spcPts val="1100"/>
              </a:lnSpc>
              <a:buNone/>
            </a:pPr>
            <a:r>
              <a:rPr lang="en-US" sz="880" dirty="0">
                <a:solidFill>
                  <a:srgbClr val="6E7A66"/>
                </a:solidFill>
                <a:latin typeface="Calibri" pitchFamily="34" charset="0"/>
                <a:ea typeface="Calibri" pitchFamily="34" charset="-122"/>
                <a:cs typeface="Calibri" pitchFamily="34" charset="-120"/>
              </a:rPr>
              <a:t>Only 3 of 29 sharp moves since 1950-51 were acreage-led.</a:t>
            </a:r>
            <a:endParaRPr lang="en-US" sz="880" dirty="0"/>
          </a:p>
        </p:txBody>
      </p:sp>
      <p:sp>
        <p:nvSpPr>
          <p:cNvPr id="16" name="Shape 12"/>
          <p:cNvSpPr/>
          <p:nvPr/>
        </p:nvSpPr>
        <p:spPr>
          <a:xfrm>
            <a:off x="6318504" y="4315968"/>
            <a:ext cx="2761488" cy="1207008"/>
          </a:xfrm>
          <a:prstGeom prst="roundRect">
            <a:avLst>
              <a:gd name="adj" fmla="val 4545"/>
            </a:avLst>
          </a:prstGeom>
          <a:solidFill>
            <a:srgbClr val="F2F5EE"/>
          </a:solidFill>
          <a:ln w="12700">
            <a:solidFill>
              <a:srgbClr val="DCE3D6"/>
            </a:solidFill>
            <a:prstDash val="solid"/>
          </a:ln>
        </p:spPr>
      </p:sp>
      <p:sp>
        <p:nvSpPr>
          <p:cNvPr id="17" name="Text 13"/>
          <p:cNvSpPr/>
          <p:nvPr/>
        </p:nvSpPr>
        <p:spPr>
          <a:xfrm>
            <a:off x="6446520" y="4407408"/>
            <a:ext cx="2505456" cy="475488"/>
          </a:xfrm>
          <a:prstGeom prst="rect">
            <a:avLst/>
          </a:prstGeom>
          <a:noFill/>
          <a:ln/>
        </p:spPr>
        <p:txBody>
          <a:bodyPr wrap="square" lIns="0" tIns="0" rIns="0" bIns="0" rtlCol="0" anchor="ctr"/>
          <a:lstStyle/>
          <a:p>
            <a:pPr indent="0" marL="0">
              <a:buNone/>
            </a:pPr>
            <a:r>
              <a:rPr lang="en-US" sz="2700" b="1" dirty="0">
                <a:solidFill>
                  <a:srgbClr val="1E4620"/>
                </a:solidFill>
                <a:latin typeface="Cambria" pitchFamily="34" charset="0"/>
                <a:ea typeface="Cambria" pitchFamily="34" charset="-122"/>
                <a:cs typeface="Cambria" pitchFamily="34" charset="-120"/>
              </a:rPr>
              <a:t>-23.1%</a:t>
            </a:r>
            <a:endParaRPr lang="en-US" sz="2700" dirty="0"/>
          </a:p>
        </p:txBody>
      </p:sp>
      <p:sp>
        <p:nvSpPr>
          <p:cNvPr id="18" name="Text 14"/>
          <p:cNvSpPr/>
          <p:nvPr/>
        </p:nvSpPr>
        <p:spPr>
          <a:xfrm>
            <a:off x="6446520" y="4882896"/>
            <a:ext cx="2505456" cy="256032"/>
          </a:xfrm>
          <a:prstGeom prst="rect">
            <a:avLst/>
          </a:prstGeom>
          <a:noFill/>
          <a:ln/>
        </p:spPr>
        <p:txBody>
          <a:bodyPr wrap="square" lIns="0" tIns="0" rIns="0" bIns="0" rtlCol="0" anchor="ctr"/>
          <a:lstStyle/>
          <a:p>
            <a:pPr indent="0" marL="0">
              <a:buNone/>
            </a:pPr>
            <a:r>
              <a:rPr lang="en-US" sz="1050" b="1" dirty="0">
                <a:solidFill>
                  <a:srgbClr val="1C2419"/>
                </a:solidFill>
                <a:latin typeface="Calibri" pitchFamily="34" charset="0"/>
                <a:ea typeface="Calibri" pitchFamily="34" charset="-122"/>
                <a:cs typeface="Calibri" pitchFamily="34" charset="-120"/>
              </a:rPr>
              <a:t>Worst single year, 2002-03</a:t>
            </a:r>
            <a:endParaRPr lang="en-US" sz="1050" dirty="0"/>
          </a:p>
        </p:txBody>
      </p:sp>
      <p:sp>
        <p:nvSpPr>
          <p:cNvPr id="19" name="Text 15"/>
          <p:cNvSpPr/>
          <p:nvPr/>
        </p:nvSpPr>
        <p:spPr>
          <a:xfrm>
            <a:off x="6446520" y="5120640"/>
            <a:ext cx="2505456" cy="329184"/>
          </a:xfrm>
          <a:prstGeom prst="rect">
            <a:avLst/>
          </a:prstGeom>
          <a:noFill/>
          <a:ln/>
        </p:spPr>
        <p:txBody>
          <a:bodyPr wrap="square" lIns="0" tIns="0" rIns="0" bIns="0" rtlCol="0" anchor="ctr"/>
          <a:lstStyle/>
          <a:p>
            <a:pPr indent="0" marL="0">
              <a:lnSpc>
                <a:spcPts val="1100"/>
              </a:lnSpc>
              <a:buNone/>
            </a:pPr>
            <a:r>
              <a:rPr lang="en-US" sz="880" dirty="0">
                <a:solidFill>
                  <a:srgbClr val="6E7A66"/>
                </a:solidFill>
                <a:latin typeface="Calibri" pitchFamily="34" charset="0"/>
                <a:ea typeface="Calibri" pitchFamily="34" charset="-122"/>
                <a:cs typeface="Calibri" pitchFamily="34" charset="-120"/>
              </a:rPr>
              <a:t>Drought. Yield fell 16.1%, area 8.3%. Also 1965-66 (-22.2%), 1979-80 (-21.3%).</a:t>
            </a:r>
            <a:endParaRPr lang="en-US" sz="880" dirty="0"/>
          </a:p>
        </p:txBody>
      </p:sp>
      <p:sp>
        <p:nvSpPr>
          <p:cNvPr id="20" name="Shape 16"/>
          <p:cNvSpPr/>
          <p:nvPr/>
        </p:nvSpPr>
        <p:spPr>
          <a:xfrm>
            <a:off x="9226296" y="4315968"/>
            <a:ext cx="2432304" cy="1207008"/>
          </a:xfrm>
          <a:prstGeom prst="roundRect">
            <a:avLst>
              <a:gd name="adj" fmla="val 4545"/>
            </a:avLst>
          </a:prstGeom>
          <a:solidFill>
            <a:srgbClr val="F2F5EE"/>
          </a:solidFill>
          <a:ln w="12700">
            <a:solidFill>
              <a:srgbClr val="DCE3D6"/>
            </a:solidFill>
            <a:prstDash val="solid"/>
          </a:ln>
        </p:spPr>
      </p:sp>
      <p:sp>
        <p:nvSpPr>
          <p:cNvPr id="21" name="Text 17"/>
          <p:cNvSpPr/>
          <p:nvPr/>
        </p:nvSpPr>
        <p:spPr>
          <a:xfrm>
            <a:off x="9354312" y="4407408"/>
            <a:ext cx="2176272" cy="475488"/>
          </a:xfrm>
          <a:prstGeom prst="rect">
            <a:avLst/>
          </a:prstGeom>
          <a:noFill/>
          <a:ln/>
        </p:spPr>
        <p:txBody>
          <a:bodyPr wrap="square" lIns="0" tIns="0" rIns="0" bIns="0" rtlCol="0" anchor="ctr"/>
          <a:lstStyle/>
          <a:p>
            <a:pPr indent="0" marL="0">
              <a:buNone/>
            </a:pPr>
            <a:r>
              <a:rPr lang="en-US" sz="2700" b="1" dirty="0">
                <a:solidFill>
                  <a:srgbClr val="1E4620"/>
                </a:solidFill>
                <a:latin typeface="Cambria" pitchFamily="34" charset="0"/>
                <a:ea typeface="Cambria" pitchFamily="34" charset="-122"/>
                <a:cs typeface="Cambria" pitchFamily="34" charset="-120"/>
              </a:rPr>
              <a:t>15.9% → 3.2%</a:t>
            </a:r>
            <a:endParaRPr lang="en-US" sz="2700" dirty="0"/>
          </a:p>
        </p:txBody>
      </p:sp>
      <p:sp>
        <p:nvSpPr>
          <p:cNvPr id="22" name="Text 18"/>
          <p:cNvSpPr/>
          <p:nvPr/>
        </p:nvSpPr>
        <p:spPr>
          <a:xfrm>
            <a:off x="9354312" y="4882896"/>
            <a:ext cx="2176272" cy="256032"/>
          </a:xfrm>
          <a:prstGeom prst="rect">
            <a:avLst/>
          </a:prstGeom>
          <a:noFill/>
          <a:ln/>
        </p:spPr>
        <p:txBody>
          <a:bodyPr wrap="square" lIns="0" tIns="0" rIns="0" bIns="0" rtlCol="0" anchor="ctr"/>
          <a:lstStyle/>
          <a:p>
            <a:pPr indent="0" marL="0">
              <a:buNone/>
            </a:pPr>
            <a:r>
              <a:rPr lang="en-US" sz="1050" b="1" dirty="0">
                <a:solidFill>
                  <a:srgbClr val="1C2419"/>
                </a:solidFill>
                <a:latin typeface="Calibri" pitchFamily="34" charset="0"/>
                <a:ea typeface="Calibri" pitchFamily="34" charset="-122"/>
                <a:cs typeface="Calibri" pitchFamily="34" charset="-120"/>
              </a:rPr>
              <a:t>Volatility, 1975-90 vs 2011-25</a:t>
            </a:r>
            <a:endParaRPr lang="en-US" sz="1050" dirty="0"/>
          </a:p>
        </p:txBody>
      </p:sp>
      <p:sp>
        <p:nvSpPr>
          <p:cNvPr id="23" name="Text 19"/>
          <p:cNvSpPr/>
          <p:nvPr/>
        </p:nvSpPr>
        <p:spPr>
          <a:xfrm>
            <a:off x="9354312" y="5120640"/>
            <a:ext cx="2176272" cy="329184"/>
          </a:xfrm>
          <a:prstGeom prst="rect">
            <a:avLst/>
          </a:prstGeom>
          <a:noFill/>
          <a:ln/>
        </p:spPr>
        <p:txBody>
          <a:bodyPr wrap="square" lIns="0" tIns="0" rIns="0" bIns="0" rtlCol="0" anchor="ctr"/>
          <a:lstStyle/>
          <a:p>
            <a:pPr indent="0" marL="0">
              <a:lnSpc>
                <a:spcPts val="1100"/>
              </a:lnSpc>
              <a:buNone/>
            </a:pPr>
            <a:r>
              <a:rPr lang="en-US" sz="880" dirty="0">
                <a:solidFill>
                  <a:srgbClr val="6E7A66"/>
                </a:solidFill>
                <a:latin typeface="Calibri" pitchFamily="34" charset="0"/>
                <a:ea typeface="Calibri" pitchFamily="34" charset="-122"/>
                <a:cs typeface="Calibri" pitchFamily="34" charset="-120"/>
              </a:rPr>
              <a:t>Irrigation and seed technology have de-risked supply.</a:t>
            </a:r>
            <a:endParaRPr lang="en-US" sz="880" dirty="0"/>
          </a:p>
        </p:txBody>
      </p:sp>
      <p:sp>
        <p:nvSpPr>
          <p:cNvPr id="24" name="Text 20"/>
          <p:cNvSpPr/>
          <p:nvPr/>
        </p:nvSpPr>
        <p:spPr>
          <a:xfrm>
            <a:off x="502920" y="5687568"/>
            <a:ext cx="11155680" cy="548640"/>
          </a:xfrm>
          <a:prstGeom prst="rect">
            <a:avLst/>
          </a:prstGeom>
          <a:noFill/>
          <a:ln/>
        </p:spPr>
        <p:txBody>
          <a:bodyPr wrap="square" lIns="0" tIns="0" rIns="0" bIns="0" rtlCol="0" anchor="ctr"/>
          <a:lstStyle/>
          <a:p>
            <a:pPr indent="0" marL="0">
              <a:lnSpc>
                <a:spcPts val="1400"/>
              </a:lnSpc>
              <a:buNone/>
            </a:pPr>
            <a:r>
              <a:rPr lang="en-US" sz="1100" b="1" dirty="0">
                <a:solidFill>
                  <a:srgbClr val="1E4620"/>
                </a:solidFill>
                <a:latin typeface="Calibri" pitchFamily="34" charset="0"/>
                <a:ea typeface="Calibri" pitchFamily="34" charset="-122"/>
                <a:cs typeface="Calibri" pitchFamily="34" charset="-120"/>
              </a:rPr>
              <a:t>So what: MSP is a cost input, not a supply forecast — never plan volumes off a price signal. Weather-linked yield is the exposure worth insuring, and the recent era is far calmer than the historical record implies.</a:t>
            </a:r>
            <a:endParaRPr lang="en-US" sz="1100" dirty="0"/>
          </a:p>
        </p:txBody>
      </p:sp>
      <p:sp>
        <p:nvSpPr>
          <p:cNvPr id="25" name="Text 21"/>
          <p:cNvSpPr/>
          <p:nvPr/>
        </p:nvSpPr>
        <p:spPr>
          <a:xfrm>
            <a:off x="502920" y="6419088"/>
            <a:ext cx="11155680" cy="274320"/>
          </a:xfrm>
          <a:prstGeom prst="rect">
            <a:avLst/>
          </a:prstGeom>
          <a:noFill/>
          <a:ln/>
        </p:spPr>
        <p:txBody>
          <a:bodyPr wrap="square" lIns="0" tIns="0" rIns="0" bIns="0" rtlCol="0" anchor="ctr"/>
          <a:lstStyle/>
          <a:p>
            <a:pPr indent="0" marL="0">
              <a:buNone/>
            </a:pPr>
            <a:r>
              <a:rPr lang="en-US" sz="820" i="1" dirty="0">
                <a:solidFill>
                  <a:srgbClr val="6E7A66"/>
                </a:solidFill>
                <a:latin typeface="Calibri" pitchFamily="34" charset="0"/>
                <a:ea typeface="Calibri" pitchFamily="34" charset="-122"/>
                <a:cs typeface="Calibri" pitchFamily="34" charset="-120"/>
              </a:rPr>
              <a:t>Pearson correlation on 1975-76 onward (MSP available from 1975-76); detrended series are year-on-year % changes. Shock = production change below -5%; spike = above +10%. Correlation is not causation and no controls (rainfall, irrigation, input cost) exist in the permitted dataset.</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10896"/>
            <a:ext cx="11155680" cy="256032"/>
          </a:xfrm>
          <a:prstGeom prst="rect">
            <a:avLst/>
          </a:prstGeom>
          <a:noFill/>
          <a:ln/>
        </p:spPr>
        <p:txBody>
          <a:bodyPr wrap="square" lIns="0" tIns="0" rIns="0" bIns="0" rtlCol="0" anchor="ctr"/>
          <a:lstStyle/>
          <a:p>
            <a:pPr indent="0" marL="0">
              <a:buNone/>
            </a:pPr>
            <a:r>
              <a:rPr lang="en-US" sz="1100" b="1" spc="160" kern="0" dirty="0">
                <a:solidFill>
                  <a:srgbClr val="D9A521"/>
                </a:solidFill>
                <a:latin typeface="Calibri" pitchFamily="34" charset="0"/>
                <a:ea typeface="Calibri" pitchFamily="34" charset="-122"/>
                <a:cs typeface="Calibri" pitchFamily="34" charset="-120"/>
              </a:rPr>
              <a:t>03  OUTLOOK &amp; PRIORITISED ACTIONS</a:t>
            </a:r>
            <a:endParaRPr lang="en-US" sz="1100" dirty="0"/>
          </a:p>
        </p:txBody>
      </p:sp>
      <p:sp>
        <p:nvSpPr>
          <p:cNvPr id="3" name="Text 1"/>
          <p:cNvSpPr/>
          <p:nvPr/>
        </p:nvSpPr>
        <p:spPr>
          <a:xfrm>
            <a:off x="502920" y="603504"/>
            <a:ext cx="11155680" cy="658368"/>
          </a:xfrm>
          <a:prstGeom prst="rect">
            <a:avLst/>
          </a:prstGeom>
          <a:noFill/>
          <a:ln/>
        </p:spPr>
        <p:txBody>
          <a:bodyPr wrap="square" lIns="0" tIns="0" rIns="0" bIns="0" rtlCol="0" anchor="ctr"/>
          <a:lstStyle/>
          <a:p>
            <a:pPr indent="0" marL="0">
              <a:lnSpc>
                <a:spcPts val="2900"/>
              </a:lnSpc>
              <a:buNone/>
            </a:pPr>
            <a:r>
              <a:rPr lang="en-US" sz="2500" b="1" dirty="0">
                <a:solidFill>
                  <a:srgbClr val="1E4620"/>
                </a:solidFill>
                <a:latin typeface="Cambria" pitchFamily="34" charset="0"/>
                <a:ea typeface="Cambria" pitchFamily="34" charset="-122"/>
                <a:cs typeface="Cambria" pitchFamily="34" charset="-120"/>
              </a:rPr>
              <a:t>A flat 2026-27 within an honest band — and five moves, in order of payback</a:t>
            </a:r>
            <a:endParaRPr lang="en-US" sz="2500" dirty="0"/>
          </a:p>
        </p:txBody>
      </p:sp>
      <p:graphicFrame>
        <p:nvGraphicFramePr>
          <p:cNvPr id="4" name="Chart 0" descr=""/>
          <p:cNvGraphicFramePr/>
          <p:nvPr/>
        </p:nvGraphicFramePr>
        <p:xfrm>
          <a:off x="502920" y="1389888"/>
          <a:ext cx="6172200" cy="2788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02920" y="4261104"/>
            <a:ext cx="6172200" cy="786384"/>
          </a:xfrm>
          <a:prstGeom prst="rect">
            <a:avLst/>
          </a:prstGeom>
          <a:noFill/>
          <a:ln/>
        </p:spPr>
        <p:txBody>
          <a:bodyPr wrap="square" lIns="0" tIns="0" rIns="0" bIns="0" rtlCol="0" anchor="ctr"/>
          <a:lstStyle/>
          <a:p>
            <a:pPr indent="0" marL="0">
              <a:lnSpc>
                <a:spcPts val="1150"/>
              </a:lnSpc>
              <a:buNone/>
            </a:pPr>
            <a:r>
              <a:rPr lang="en-US" sz="900" b="1" dirty="0">
                <a:solidFill>
                  <a:srgbClr val="1E4620"/>
                </a:solidFill>
                <a:latin typeface="Calibri" pitchFamily="34" charset="0"/>
                <a:ea typeface="Calibri" pitchFamily="34" charset="-122"/>
                <a:cs typeface="Calibri" pitchFamily="34" charset="-120"/>
              </a:rPr>
              <a:t>Method.  </a:t>
            </a:r>
            <a:pPr indent="0" marL="0">
              <a:lnSpc>
                <a:spcPts val="1150"/>
              </a:lnSpc>
              <a:buNone/>
            </a:pPr>
            <a:r>
              <a:rPr lang="en-US" sz="900" dirty="0">
                <a:solidFill>
                  <a:srgbClr val="1C2419"/>
                </a:solidFill>
                <a:latin typeface="Calibri" pitchFamily="34" charset="0"/>
                <a:ea typeface="Calibri" pitchFamily="34" charset="-122"/>
                <a:cs typeface="Calibri" pitchFamily="34" charset="-120"/>
              </a:rPr>
              <a:t>Ensemble of damped-trend exponential smoothing, log-linear OLS and drift, averaged, on a rolling 15-year window. Production is derived as forecast area × yield so the identity holds. Bands are empirical — taken from actual out-of-sample error across 54 rolling origins, not model standard errors.</a:t>
            </a:r>
            <a:endParaRPr lang="en-US" sz="900" dirty="0"/>
          </a:p>
        </p:txBody>
      </p:sp>
      <p:sp>
        <p:nvSpPr>
          <p:cNvPr id="6" name="Text 3"/>
          <p:cNvSpPr/>
          <p:nvPr/>
        </p:nvSpPr>
        <p:spPr>
          <a:xfrm>
            <a:off x="502920" y="5047488"/>
            <a:ext cx="6172200" cy="786384"/>
          </a:xfrm>
          <a:prstGeom prst="rect">
            <a:avLst/>
          </a:prstGeom>
          <a:noFill/>
          <a:ln/>
        </p:spPr>
        <p:txBody>
          <a:bodyPr wrap="square" lIns="0" tIns="0" rIns="0" bIns="0" rtlCol="0" anchor="ctr"/>
          <a:lstStyle/>
          <a:p>
            <a:pPr indent="0" marL="0">
              <a:lnSpc>
                <a:spcPts val="1150"/>
              </a:lnSpc>
              <a:buNone/>
            </a:pPr>
            <a:r>
              <a:rPr lang="en-US" sz="900" b="1" dirty="0">
                <a:solidFill>
                  <a:srgbClr val="1E4620"/>
                </a:solidFill>
                <a:latin typeface="Calibri" pitchFamily="34" charset="0"/>
                <a:ea typeface="Calibri" pitchFamily="34" charset="-122"/>
                <a:cs typeface="Calibri" pitchFamily="34" charset="-120"/>
              </a:rPr>
              <a:t>Confidence.  </a:t>
            </a:r>
            <a:pPr indent="0" marL="0">
              <a:lnSpc>
                <a:spcPts val="1150"/>
              </a:lnSpc>
              <a:buNone/>
            </a:pPr>
            <a:r>
              <a:rPr lang="en-US" sz="900" dirty="0">
                <a:solidFill>
                  <a:srgbClr val="1C2419"/>
                </a:solidFill>
                <a:latin typeface="Calibri" pitchFamily="34" charset="0"/>
                <a:ea typeface="Calibri" pitchFamily="34" charset="-122"/>
                <a:cs typeface="Calibri" pitchFamily="34" charset="-120"/>
              </a:rPr>
              <a:t>One-year-ahead MAPE 6.4% vs 7.6% for a no-change benchmark — a 15% improvement. The point estimate is weak; the band is the usable output. Bands are calibrated on volatile historic decades, so they are deliberately conservative against recent-era stability.</a:t>
            </a:r>
            <a:endParaRPr lang="en-US" sz="900" dirty="0"/>
          </a:p>
        </p:txBody>
      </p:sp>
      <p:sp>
        <p:nvSpPr>
          <p:cNvPr id="7" name="Text 4"/>
          <p:cNvSpPr/>
          <p:nvPr/>
        </p:nvSpPr>
        <p:spPr>
          <a:xfrm>
            <a:off x="502920" y="5870448"/>
            <a:ext cx="6172200" cy="402336"/>
          </a:xfrm>
          <a:prstGeom prst="rect">
            <a:avLst/>
          </a:prstGeom>
          <a:noFill/>
          <a:ln/>
        </p:spPr>
        <p:txBody>
          <a:bodyPr wrap="square" lIns="0" tIns="0" rIns="0" bIns="0" rtlCol="0" anchor="ctr"/>
          <a:lstStyle/>
          <a:p>
            <a:pPr indent="0" marL="0">
              <a:lnSpc>
                <a:spcPts val="1200"/>
              </a:lnSpc>
              <a:buNone/>
            </a:pPr>
            <a:r>
              <a:rPr lang="en-US" sz="960" b="1" dirty="0">
                <a:solidFill>
                  <a:srgbClr val="1E4620"/>
                </a:solidFill>
                <a:latin typeface="Calibri" pitchFamily="34" charset="0"/>
                <a:ea typeface="Calibri" pitchFamily="34" charset="-122"/>
                <a:cs typeface="Calibri" pitchFamily="34" charset="-120"/>
              </a:rPr>
              <a:t>2026-27 central case: 1,528 lakh tonnes (-0.8%), 80% band 1,411-1,667. Announced MSP ₹2,441 (+3.0%).</a:t>
            </a:r>
            <a:endParaRPr lang="en-US" sz="960" dirty="0"/>
          </a:p>
        </p:txBody>
      </p:sp>
      <p:sp>
        <p:nvSpPr>
          <p:cNvPr id="8" name="Shape 5"/>
          <p:cNvSpPr/>
          <p:nvPr/>
        </p:nvSpPr>
        <p:spPr>
          <a:xfrm>
            <a:off x="6967728" y="1389888"/>
            <a:ext cx="4690872" cy="4882896"/>
          </a:xfrm>
          <a:prstGeom prst="roundRect">
            <a:avLst>
              <a:gd name="adj" fmla="val 1170"/>
            </a:avLst>
          </a:prstGeom>
          <a:solidFill>
            <a:srgbClr val="F2F5EE"/>
          </a:solidFill>
          <a:ln w="12700">
            <a:solidFill>
              <a:srgbClr val="DCE3D6"/>
            </a:solidFill>
            <a:prstDash val="solid"/>
          </a:ln>
        </p:spPr>
      </p:sp>
      <p:sp>
        <p:nvSpPr>
          <p:cNvPr id="9" name="Text 6"/>
          <p:cNvSpPr/>
          <p:nvPr/>
        </p:nvSpPr>
        <p:spPr>
          <a:xfrm>
            <a:off x="7187184" y="1536192"/>
            <a:ext cx="4251960" cy="237744"/>
          </a:xfrm>
          <a:prstGeom prst="rect">
            <a:avLst/>
          </a:prstGeom>
          <a:noFill/>
          <a:ln/>
        </p:spPr>
        <p:txBody>
          <a:bodyPr wrap="square" lIns="0" tIns="0" rIns="0" bIns="0" rtlCol="0" anchor="ctr"/>
          <a:lstStyle/>
          <a:p>
            <a:pPr indent="0" marL="0">
              <a:buNone/>
            </a:pPr>
            <a:r>
              <a:rPr lang="en-US" sz="1000" b="1" spc="140" kern="0" dirty="0">
                <a:solidFill>
                  <a:srgbClr val="D9A521"/>
                </a:solidFill>
                <a:latin typeface="Calibri" pitchFamily="34" charset="0"/>
                <a:ea typeface="Calibri" pitchFamily="34" charset="-122"/>
                <a:cs typeface="Calibri" pitchFamily="34" charset="-120"/>
              </a:rPr>
              <a:t>WHERE TO FOCUS FIRST</a:t>
            </a:r>
            <a:endParaRPr lang="en-US" sz="1000" dirty="0"/>
          </a:p>
        </p:txBody>
      </p:sp>
      <p:sp>
        <p:nvSpPr>
          <p:cNvPr id="10" name="Shape 7"/>
          <p:cNvSpPr/>
          <p:nvPr/>
        </p:nvSpPr>
        <p:spPr>
          <a:xfrm>
            <a:off x="7187184" y="1865376"/>
            <a:ext cx="274320" cy="274320"/>
          </a:xfrm>
          <a:prstGeom prst="ellipse">
            <a:avLst/>
          </a:prstGeom>
          <a:solidFill>
            <a:srgbClr val="1E4620"/>
          </a:solidFill>
          <a:ln/>
        </p:spPr>
      </p:sp>
      <p:sp>
        <p:nvSpPr>
          <p:cNvPr id="11" name="Text 8"/>
          <p:cNvSpPr/>
          <p:nvPr/>
        </p:nvSpPr>
        <p:spPr>
          <a:xfrm>
            <a:off x="7187184" y="186537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9"/>
          <p:cNvSpPr/>
          <p:nvPr/>
        </p:nvSpPr>
        <p:spPr>
          <a:xfrm>
            <a:off x="7562088" y="1828800"/>
            <a:ext cx="3877056" cy="402336"/>
          </a:xfrm>
          <a:prstGeom prst="rect">
            <a:avLst/>
          </a:prstGeom>
          <a:noFill/>
          <a:ln/>
        </p:spPr>
        <p:txBody>
          <a:bodyPr wrap="square" lIns="0" tIns="0" rIns="0" bIns="0" rtlCol="0" anchor="ctr"/>
          <a:lstStyle/>
          <a:p>
            <a:pPr indent="0" marL="0">
              <a:lnSpc>
                <a:spcPts val="1200"/>
              </a:lnSpc>
              <a:buNone/>
            </a:pPr>
            <a:r>
              <a:rPr lang="en-US" sz="1000" b="1" dirty="0">
                <a:solidFill>
                  <a:srgbClr val="1E4620"/>
                </a:solidFill>
                <a:latin typeface="Calibri" pitchFamily="34" charset="0"/>
                <a:ea typeface="Calibri" pitchFamily="34" charset="-122"/>
                <a:cs typeface="Calibri" pitchFamily="34" charset="-120"/>
              </a:rPr>
              <a:t>Budget procurement cost off MSP, not off the harvest</a:t>
            </a:r>
            <a:endParaRPr lang="en-US" sz="1000" dirty="0"/>
          </a:p>
        </p:txBody>
      </p:sp>
      <p:sp>
        <p:nvSpPr>
          <p:cNvPr id="13" name="Text 10"/>
          <p:cNvSpPr/>
          <p:nvPr/>
        </p:nvSpPr>
        <p:spPr>
          <a:xfrm>
            <a:off x="7562088" y="2231136"/>
            <a:ext cx="3877056" cy="402336"/>
          </a:xfrm>
          <a:prstGeom prst="rect">
            <a:avLst/>
          </a:prstGeom>
          <a:noFill/>
          <a:ln/>
        </p:spPr>
        <p:txBody>
          <a:bodyPr wrap="square" lIns="0" tIns="0" rIns="0" bIns="0" rtlCol="0" anchor="ctr"/>
          <a:lstStyle/>
          <a:p>
            <a:pPr indent="0" marL="0">
              <a:lnSpc>
                <a:spcPts val="1050"/>
              </a:lnSpc>
              <a:buNone/>
            </a:pPr>
            <a:r>
              <a:rPr lang="en-US" sz="860" dirty="0">
                <a:solidFill>
                  <a:srgbClr val="1C2419"/>
                </a:solidFill>
                <a:latin typeface="Calibri" pitchFamily="34" charset="0"/>
                <a:ea typeface="Calibri" pitchFamily="34" charset="-122"/>
                <a:cs typeface="Calibri" pitchFamily="34" charset="-120"/>
              </a:rPr>
              <a:t>MSP ~ production r = 0.02 detrended. Set cost inflation at 5-6% p.a. regardless of crop size.</a:t>
            </a:r>
            <a:endParaRPr lang="en-US" sz="860" dirty="0"/>
          </a:p>
        </p:txBody>
      </p:sp>
      <p:sp>
        <p:nvSpPr>
          <p:cNvPr id="14" name="Text 11"/>
          <p:cNvSpPr/>
          <p:nvPr/>
        </p:nvSpPr>
        <p:spPr>
          <a:xfrm>
            <a:off x="10844784" y="1847088"/>
            <a:ext cx="658368" cy="201168"/>
          </a:xfrm>
          <a:prstGeom prst="rect">
            <a:avLst/>
          </a:prstGeom>
          <a:noFill/>
          <a:ln/>
        </p:spPr>
        <p:txBody>
          <a:bodyPr wrap="square" lIns="0" tIns="0" rIns="0" bIns="0" rtlCol="0" anchor="ctr"/>
          <a:lstStyle/>
          <a:p>
            <a:pPr algn="r" indent="0" marL="0">
              <a:buNone/>
            </a:pPr>
            <a:r>
              <a:rPr lang="en-US" sz="740" b="1" dirty="0">
                <a:solidFill>
                  <a:srgbClr val="3E7B31"/>
                </a:solidFill>
                <a:latin typeface="Calibri" pitchFamily="34" charset="0"/>
                <a:ea typeface="Calibri" pitchFamily="34" charset="-122"/>
                <a:cs typeface="Calibri" pitchFamily="34" charset="-120"/>
              </a:rPr>
              <a:t>Pricing</a:t>
            </a:r>
            <a:endParaRPr lang="en-US" sz="740" dirty="0"/>
          </a:p>
        </p:txBody>
      </p:sp>
      <p:sp>
        <p:nvSpPr>
          <p:cNvPr id="15" name="Shape 12"/>
          <p:cNvSpPr/>
          <p:nvPr/>
        </p:nvSpPr>
        <p:spPr>
          <a:xfrm>
            <a:off x="7187184" y="2743200"/>
            <a:ext cx="274320" cy="274320"/>
          </a:xfrm>
          <a:prstGeom prst="ellipse">
            <a:avLst/>
          </a:prstGeom>
          <a:solidFill>
            <a:srgbClr val="1E4620"/>
          </a:solidFill>
          <a:ln/>
        </p:spPr>
      </p:sp>
      <p:sp>
        <p:nvSpPr>
          <p:cNvPr id="16" name="Text 13"/>
          <p:cNvSpPr/>
          <p:nvPr/>
        </p:nvSpPr>
        <p:spPr>
          <a:xfrm>
            <a:off x="7187184" y="274320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4"/>
          <p:cNvSpPr/>
          <p:nvPr/>
        </p:nvSpPr>
        <p:spPr>
          <a:xfrm>
            <a:off x="7562088" y="2706624"/>
            <a:ext cx="3877056" cy="402336"/>
          </a:xfrm>
          <a:prstGeom prst="rect">
            <a:avLst/>
          </a:prstGeom>
          <a:noFill/>
          <a:ln/>
        </p:spPr>
        <p:txBody>
          <a:bodyPr wrap="square" lIns="0" tIns="0" rIns="0" bIns="0" rtlCol="0" anchor="ctr"/>
          <a:lstStyle/>
          <a:p>
            <a:pPr indent="0" marL="0">
              <a:lnSpc>
                <a:spcPts val="1200"/>
              </a:lnSpc>
              <a:buNone/>
            </a:pPr>
            <a:r>
              <a:rPr lang="en-US" sz="1000" b="1" dirty="0">
                <a:solidFill>
                  <a:srgbClr val="1E4620"/>
                </a:solidFill>
                <a:latin typeface="Calibri" pitchFamily="34" charset="0"/>
                <a:ea typeface="Calibri" pitchFamily="34" charset="-122"/>
                <a:cs typeface="Calibri" pitchFamily="34" charset="-120"/>
              </a:rPr>
              <a:t>Hedge weather-linked yield, not acreage</a:t>
            </a:r>
            <a:endParaRPr lang="en-US" sz="1000" dirty="0"/>
          </a:p>
        </p:txBody>
      </p:sp>
      <p:sp>
        <p:nvSpPr>
          <p:cNvPr id="18" name="Text 15"/>
          <p:cNvSpPr/>
          <p:nvPr/>
        </p:nvSpPr>
        <p:spPr>
          <a:xfrm>
            <a:off x="7562088" y="3108960"/>
            <a:ext cx="3877056" cy="402336"/>
          </a:xfrm>
          <a:prstGeom prst="rect">
            <a:avLst/>
          </a:prstGeom>
          <a:noFill/>
          <a:ln/>
        </p:spPr>
        <p:txBody>
          <a:bodyPr wrap="square" lIns="0" tIns="0" rIns="0" bIns="0" rtlCol="0" anchor="ctr"/>
          <a:lstStyle/>
          <a:p>
            <a:pPr indent="0" marL="0">
              <a:lnSpc>
                <a:spcPts val="1050"/>
              </a:lnSpc>
              <a:buNone/>
            </a:pPr>
            <a:r>
              <a:rPr lang="en-US" sz="860" dirty="0">
                <a:solidFill>
                  <a:srgbClr val="1C2419"/>
                </a:solidFill>
                <a:latin typeface="Calibri" pitchFamily="34" charset="0"/>
                <a:ea typeface="Calibri" pitchFamily="34" charset="-122"/>
                <a:cs typeface="Calibri" pitchFamily="34" charset="-120"/>
              </a:rPr>
              <a:t>Yield explains 93% of annual production variance; 26 of 29 shock years were yield-led.</a:t>
            </a:r>
            <a:endParaRPr lang="en-US" sz="860" dirty="0"/>
          </a:p>
        </p:txBody>
      </p:sp>
      <p:sp>
        <p:nvSpPr>
          <p:cNvPr id="19" name="Text 16"/>
          <p:cNvSpPr/>
          <p:nvPr/>
        </p:nvSpPr>
        <p:spPr>
          <a:xfrm>
            <a:off x="10844784" y="2724912"/>
            <a:ext cx="658368" cy="201168"/>
          </a:xfrm>
          <a:prstGeom prst="rect">
            <a:avLst/>
          </a:prstGeom>
          <a:noFill/>
          <a:ln/>
        </p:spPr>
        <p:txBody>
          <a:bodyPr wrap="square" lIns="0" tIns="0" rIns="0" bIns="0" rtlCol="0" anchor="ctr"/>
          <a:lstStyle/>
          <a:p>
            <a:pPr algn="r" indent="0" marL="0">
              <a:buNone/>
            </a:pPr>
            <a:r>
              <a:rPr lang="en-US" sz="740" b="1" dirty="0">
                <a:solidFill>
                  <a:srgbClr val="3E7B31"/>
                </a:solidFill>
                <a:latin typeface="Calibri" pitchFamily="34" charset="0"/>
                <a:ea typeface="Calibri" pitchFamily="34" charset="-122"/>
                <a:cs typeface="Calibri" pitchFamily="34" charset="-120"/>
              </a:rPr>
              <a:t>Risk</a:t>
            </a:r>
            <a:endParaRPr lang="en-US" sz="740" dirty="0"/>
          </a:p>
        </p:txBody>
      </p:sp>
      <p:sp>
        <p:nvSpPr>
          <p:cNvPr id="20" name="Shape 17"/>
          <p:cNvSpPr/>
          <p:nvPr/>
        </p:nvSpPr>
        <p:spPr>
          <a:xfrm>
            <a:off x="7187184" y="3621024"/>
            <a:ext cx="274320" cy="274320"/>
          </a:xfrm>
          <a:prstGeom prst="ellipse">
            <a:avLst/>
          </a:prstGeom>
          <a:solidFill>
            <a:srgbClr val="1E4620"/>
          </a:solidFill>
          <a:ln/>
        </p:spPr>
      </p:sp>
      <p:sp>
        <p:nvSpPr>
          <p:cNvPr id="21" name="Text 18"/>
          <p:cNvSpPr/>
          <p:nvPr/>
        </p:nvSpPr>
        <p:spPr>
          <a:xfrm>
            <a:off x="7187184" y="36210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19"/>
          <p:cNvSpPr/>
          <p:nvPr/>
        </p:nvSpPr>
        <p:spPr>
          <a:xfrm>
            <a:off x="7562088" y="3584448"/>
            <a:ext cx="3877056" cy="402336"/>
          </a:xfrm>
          <a:prstGeom prst="rect">
            <a:avLst/>
          </a:prstGeom>
          <a:noFill/>
          <a:ln/>
        </p:spPr>
        <p:txBody>
          <a:bodyPr wrap="square" lIns="0" tIns="0" rIns="0" bIns="0" rtlCol="0" anchor="ctr"/>
          <a:lstStyle/>
          <a:p>
            <a:pPr indent="0" marL="0">
              <a:lnSpc>
                <a:spcPts val="1200"/>
              </a:lnSpc>
              <a:buNone/>
            </a:pPr>
            <a:r>
              <a:rPr lang="en-US" sz="1000" b="1" dirty="0">
                <a:solidFill>
                  <a:srgbClr val="1E4620"/>
                </a:solidFill>
                <a:latin typeface="Calibri" pitchFamily="34" charset="0"/>
                <a:ea typeface="Calibri" pitchFamily="34" charset="-122"/>
                <a:cs typeface="Calibri" pitchFamily="34" charset="-120"/>
              </a:rPr>
              <a:t>Stage milling capex — don't underwrite the 528 lakh ha peak</a:t>
            </a:r>
            <a:endParaRPr lang="en-US" sz="1000" dirty="0"/>
          </a:p>
        </p:txBody>
      </p:sp>
      <p:sp>
        <p:nvSpPr>
          <p:cNvPr id="23" name="Text 20"/>
          <p:cNvSpPr/>
          <p:nvPr/>
        </p:nvSpPr>
        <p:spPr>
          <a:xfrm>
            <a:off x="7562088" y="3986784"/>
            <a:ext cx="3877056" cy="402336"/>
          </a:xfrm>
          <a:prstGeom prst="rect">
            <a:avLst/>
          </a:prstGeom>
          <a:noFill/>
          <a:ln/>
        </p:spPr>
        <p:txBody>
          <a:bodyPr wrap="square" lIns="0" tIns="0" rIns="0" bIns="0" rtlCol="0" anchor="ctr"/>
          <a:lstStyle/>
          <a:p>
            <a:pPr indent="0" marL="0">
              <a:lnSpc>
                <a:spcPts val="1050"/>
              </a:lnSpc>
              <a:buNone/>
            </a:pPr>
            <a:r>
              <a:rPr lang="en-US" sz="860" dirty="0">
                <a:solidFill>
                  <a:srgbClr val="1C2419"/>
                </a:solidFill>
                <a:latin typeface="Calibri" pitchFamily="34" charset="0"/>
                <a:ea typeface="Calibri" pitchFamily="34" charset="-122"/>
                <a:cs typeface="Calibri" pitchFamily="34" charset="-120"/>
              </a:rPr>
              <a:t>Area jumped 10.5% in two years vs a 1.2% trend; the model reverts it to 512.</a:t>
            </a:r>
            <a:endParaRPr lang="en-US" sz="860" dirty="0"/>
          </a:p>
        </p:txBody>
      </p:sp>
      <p:sp>
        <p:nvSpPr>
          <p:cNvPr id="24" name="Text 21"/>
          <p:cNvSpPr/>
          <p:nvPr/>
        </p:nvSpPr>
        <p:spPr>
          <a:xfrm>
            <a:off x="10844784" y="3602736"/>
            <a:ext cx="658368" cy="201168"/>
          </a:xfrm>
          <a:prstGeom prst="rect">
            <a:avLst/>
          </a:prstGeom>
          <a:noFill/>
          <a:ln/>
        </p:spPr>
        <p:txBody>
          <a:bodyPr wrap="square" lIns="0" tIns="0" rIns="0" bIns="0" rtlCol="0" anchor="ctr"/>
          <a:lstStyle/>
          <a:p>
            <a:pPr algn="r" indent="0" marL="0">
              <a:buNone/>
            </a:pPr>
            <a:r>
              <a:rPr lang="en-US" sz="740" b="1" dirty="0">
                <a:solidFill>
                  <a:srgbClr val="3E7B31"/>
                </a:solidFill>
                <a:latin typeface="Calibri" pitchFamily="34" charset="0"/>
                <a:ea typeface="Calibri" pitchFamily="34" charset="-122"/>
                <a:cs typeface="Calibri" pitchFamily="34" charset="-120"/>
              </a:rPr>
              <a:t>Capacity</a:t>
            </a:r>
            <a:endParaRPr lang="en-US" sz="740" dirty="0"/>
          </a:p>
        </p:txBody>
      </p:sp>
      <p:sp>
        <p:nvSpPr>
          <p:cNvPr id="25" name="Shape 22"/>
          <p:cNvSpPr/>
          <p:nvPr/>
        </p:nvSpPr>
        <p:spPr>
          <a:xfrm>
            <a:off x="7187184" y="4498848"/>
            <a:ext cx="274320" cy="274320"/>
          </a:xfrm>
          <a:prstGeom prst="ellipse">
            <a:avLst/>
          </a:prstGeom>
          <a:solidFill>
            <a:srgbClr val="1E4620"/>
          </a:solidFill>
          <a:ln/>
        </p:spPr>
      </p:sp>
      <p:sp>
        <p:nvSpPr>
          <p:cNvPr id="26" name="Text 23"/>
          <p:cNvSpPr/>
          <p:nvPr/>
        </p:nvSpPr>
        <p:spPr>
          <a:xfrm>
            <a:off x="7187184" y="449884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4"/>
          <p:cNvSpPr/>
          <p:nvPr/>
        </p:nvSpPr>
        <p:spPr>
          <a:xfrm>
            <a:off x="7562088" y="4462272"/>
            <a:ext cx="3877056" cy="402336"/>
          </a:xfrm>
          <a:prstGeom prst="rect">
            <a:avLst/>
          </a:prstGeom>
          <a:noFill/>
          <a:ln/>
        </p:spPr>
        <p:txBody>
          <a:bodyPr wrap="square" lIns="0" tIns="0" rIns="0" bIns="0" rtlCol="0" anchor="ctr"/>
          <a:lstStyle/>
          <a:p>
            <a:pPr indent="0" marL="0">
              <a:lnSpc>
                <a:spcPts val="1200"/>
              </a:lnSpc>
              <a:buNone/>
            </a:pPr>
            <a:r>
              <a:rPr lang="en-US" sz="1000" b="1" dirty="0">
                <a:solidFill>
                  <a:srgbClr val="1E4620"/>
                </a:solidFill>
                <a:latin typeface="Calibri" pitchFamily="34" charset="0"/>
                <a:ea typeface="Calibri" pitchFamily="34" charset="-122"/>
                <a:cs typeface="Calibri" pitchFamily="34" charset="-120"/>
              </a:rPr>
              <a:t>Release buffer working capital, but keep tail cover</a:t>
            </a:r>
            <a:endParaRPr lang="en-US" sz="1000" dirty="0"/>
          </a:p>
        </p:txBody>
      </p:sp>
      <p:sp>
        <p:nvSpPr>
          <p:cNvPr id="28" name="Text 25"/>
          <p:cNvSpPr/>
          <p:nvPr/>
        </p:nvSpPr>
        <p:spPr>
          <a:xfrm>
            <a:off x="7562088" y="4864608"/>
            <a:ext cx="3877056" cy="402336"/>
          </a:xfrm>
          <a:prstGeom prst="rect">
            <a:avLst/>
          </a:prstGeom>
          <a:noFill/>
          <a:ln/>
        </p:spPr>
        <p:txBody>
          <a:bodyPr wrap="square" lIns="0" tIns="0" rIns="0" bIns="0" rtlCol="0" anchor="ctr"/>
          <a:lstStyle/>
          <a:p>
            <a:pPr indent="0" marL="0">
              <a:lnSpc>
                <a:spcPts val="1050"/>
              </a:lnSpc>
              <a:buNone/>
            </a:pPr>
            <a:r>
              <a:rPr lang="en-US" sz="860" dirty="0">
                <a:solidFill>
                  <a:srgbClr val="1C2419"/>
                </a:solidFill>
                <a:latin typeface="Calibri" pitchFamily="34" charset="0"/>
                <a:ea typeface="Calibri" pitchFamily="34" charset="-122"/>
                <a:cs typeface="Calibri" pitchFamily="34" charset="-120"/>
              </a:rPr>
              <a:t>Volatility down 15.9% → 3.2%. Hold cover against the 80% band (±8%), not the 1970s record.</a:t>
            </a:r>
            <a:endParaRPr lang="en-US" sz="860" dirty="0"/>
          </a:p>
        </p:txBody>
      </p:sp>
      <p:sp>
        <p:nvSpPr>
          <p:cNvPr id="29" name="Text 26"/>
          <p:cNvSpPr/>
          <p:nvPr/>
        </p:nvSpPr>
        <p:spPr>
          <a:xfrm>
            <a:off x="10844784" y="4480560"/>
            <a:ext cx="658368" cy="201168"/>
          </a:xfrm>
          <a:prstGeom prst="rect">
            <a:avLst/>
          </a:prstGeom>
          <a:noFill/>
          <a:ln/>
        </p:spPr>
        <p:txBody>
          <a:bodyPr wrap="square" lIns="0" tIns="0" rIns="0" bIns="0" rtlCol="0" anchor="ctr"/>
          <a:lstStyle/>
          <a:p>
            <a:pPr algn="r" indent="0" marL="0">
              <a:buNone/>
            </a:pPr>
            <a:r>
              <a:rPr lang="en-US" sz="740" b="1" dirty="0">
                <a:solidFill>
                  <a:srgbClr val="3E7B31"/>
                </a:solidFill>
                <a:latin typeface="Calibri" pitchFamily="34" charset="0"/>
                <a:ea typeface="Calibri" pitchFamily="34" charset="-122"/>
                <a:cs typeface="Calibri" pitchFamily="34" charset="-120"/>
              </a:rPr>
              <a:t>Working capital</a:t>
            </a:r>
            <a:endParaRPr lang="en-US" sz="740" dirty="0"/>
          </a:p>
        </p:txBody>
      </p:sp>
      <p:sp>
        <p:nvSpPr>
          <p:cNvPr id="30" name="Shape 27"/>
          <p:cNvSpPr/>
          <p:nvPr/>
        </p:nvSpPr>
        <p:spPr>
          <a:xfrm>
            <a:off x="7187184" y="5376672"/>
            <a:ext cx="274320" cy="274320"/>
          </a:xfrm>
          <a:prstGeom prst="ellipse">
            <a:avLst/>
          </a:prstGeom>
          <a:solidFill>
            <a:srgbClr val="1E4620"/>
          </a:solidFill>
          <a:ln/>
        </p:spPr>
      </p:sp>
      <p:sp>
        <p:nvSpPr>
          <p:cNvPr id="31" name="Text 28"/>
          <p:cNvSpPr/>
          <p:nvPr/>
        </p:nvSpPr>
        <p:spPr>
          <a:xfrm>
            <a:off x="7187184" y="53766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29"/>
          <p:cNvSpPr/>
          <p:nvPr/>
        </p:nvSpPr>
        <p:spPr>
          <a:xfrm>
            <a:off x="7562088" y="5340096"/>
            <a:ext cx="3877056" cy="402336"/>
          </a:xfrm>
          <a:prstGeom prst="rect">
            <a:avLst/>
          </a:prstGeom>
          <a:noFill/>
          <a:ln/>
        </p:spPr>
        <p:txBody>
          <a:bodyPr wrap="square" lIns="0" tIns="0" rIns="0" bIns="0" rtlCol="0" anchor="ctr"/>
          <a:lstStyle/>
          <a:p>
            <a:pPr indent="0" marL="0">
              <a:lnSpc>
                <a:spcPts val="1200"/>
              </a:lnSpc>
              <a:buNone/>
            </a:pPr>
            <a:r>
              <a:rPr lang="en-US" sz="1000" b="1" dirty="0">
                <a:solidFill>
                  <a:srgbClr val="1E4620"/>
                </a:solidFill>
                <a:latin typeface="Calibri" pitchFamily="34" charset="0"/>
                <a:ea typeface="Calibri" pitchFamily="34" charset="-122"/>
                <a:cs typeface="Calibri" pitchFamily="34" charset="-120"/>
              </a:rPr>
              <a:t>Fund a productivity offset to structural margin compression</a:t>
            </a:r>
            <a:endParaRPr lang="en-US" sz="1000" dirty="0"/>
          </a:p>
        </p:txBody>
      </p:sp>
      <p:sp>
        <p:nvSpPr>
          <p:cNvPr id="33" name="Text 30"/>
          <p:cNvSpPr/>
          <p:nvPr/>
        </p:nvSpPr>
        <p:spPr>
          <a:xfrm>
            <a:off x="7562088" y="5742432"/>
            <a:ext cx="3877056" cy="402336"/>
          </a:xfrm>
          <a:prstGeom prst="rect">
            <a:avLst/>
          </a:prstGeom>
          <a:noFill/>
          <a:ln/>
        </p:spPr>
        <p:txBody>
          <a:bodyPr wrap="square" lIns="0" tIns="0" rIns="0" bIns="0" rtlCol="0" anchor="ctr"/>
          <a:lstStyle/>
          <a:p>
            <a:pPr indent="0" marL="0">
              <a:lnSpc>
                <a:spcPts val="1050"/>
              </a:lnSpc>
              <a:buNone/>
            </a:pPr>
            <a:r>
              <a:rPr lang="en-US" sz="860" dirty="0">
                <a:solidFill>
                  <a:srgbClr val="1C2419"/>
                </a:solidFill>
                <a:latin typeface="Calibri" pitchFamily="34" charset="0"/>
                <a:ea typeface="Calibri" pitchFamily="34" charset="-122"/>
                <a:cs typeface="Calibri" pitchFamily="34" charset="-120"/>
              </a:rPr>
              <a:t>MSP has outpaced yield 4.1× for 50 years; input cost per tonne rises faster than volume.</a:t>
            </a:r>
            <a:endParaRPr lang="en-US" sz="860" dirty="0"/>
          </a:p>
        </p:txBody>
      </p:sp>
      <p:sp>
        <p:nvSpPr>
          <p:cNvPr id="34" name="Text 31"/>
          <p:cNvSpPr/>
          <p:nvPr/>
        </p:nvSpPr>
        <p:spPr>
          <a:xfrm>
            <a:off x="10844784" y="5358384"/>
            <a:ext cx="658368" cy="201168"/>
          </a:xfrm>
          <a:prstGeom prst="rect">
            <a:avLst/>
          </a:prstGeom>
          <a:noFill/>
          <a:ln/>
        </p:spPr>
        <p:txBody>
          <a:bodyPr wrap="square" lIns="0" tIns="0" rIns="0" bIns="0" rtlCol="0" anchor="ctr"/>
          <a:lstStyle/>
          <a:p>
            <a:pPr algn="r" indent="0" marL="0">
              <a:buNone/>
            </a:pPr>
            <a:r>
              <a:rPr lang="en-US" sz="740" b="1" dirty="0">
                <a:solidFill>
                  <a:srgbClr val="3E7B31"/>
                </a:solidFill>
                <a:latin typeface="Calibri" pitchFamily="34" charset="0"/>
                <a:ea typeface="Calibri" pitchFamily="34" charset="-122"/>
                <a:cs typeface="Calibri" pitchFamily="34" charset="-120"/>
              </a:rPr>
              <a:t>Margin</a:t>
            </a:r>
            <a:endParaRPr lang="en-US" sz="740" dirty="0"/>
          </a:p>
        </p:txBody>
      </p:sp>
      <p:sp>
        <p:nvSpPr>
          <p:cNvPr id="35" name="Text 32"/>
          <p:cNvSpPr/>
          <p:nvPr/>
        </p:nvSpPr>
        <p:spPr>
          <a:xfrm>
            <a:off x="502920" y="6419088"/>
            <a:ext cx="11155680" cy="274320"/>
          </a:xfrm>
          <a:prstGeom prst="rect">
            <a:avLst/>
          </a:prstGeom>
          <a:noFill/>
          <a:ln/>
        </p:spPr>
        <p:txBody>
          <a:bodyPr wrap="square" lIns="0" tIns="0" rIns="0" bIns="0" rtlCol="0" anchor="ctr"/>
          <a:lstStyle/>
          <a:p>
            <a:pPr indent="0" marL="0">
              <a:buNone/>
            </a:pPr>
            <a:r>
              <a:rPr lang="en-US" sz="820" i="1" dirty="0">
                <a:solidFill>
                  <a:srgbClr val="6E7A66"/>
                </a:solidFill>
                <a:latin typeface="Calibri" pitchFamily="34" charset="0"/>
                <a:ea typeface="Calibri" pitchFamily="34" charset="-122"/>
                <a:cs typeface="Calibri" pitchFamily="34" charset="-120"/>
              </a:rPr>
              <a:t>Assumption stated explicitly: buffer-stock sizing, capex staging thresholds and the 5-6% procurement inflation figure are business-narrative judgements built on the analysis — they are not sourced data. MSP is nominal throughout.</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4620"/>
        </a:solidFill>
      </p:bgPr>
    </p:bg>
    <p:spTree>
      <p:nvGrpSpPr>
        <p:cNvPr id="1" name=""/>
        <p:cNvGrpSpPr/>
        <p:nvPr/>
      </p:nvGrpSpPr>
      <p:grpSpPr>
        <a:xfrm>
          <a:off x="0" y="0"/>
          <a:ext cx="0" cy="0"/>
          <a:chOff x="0" y="0"/>
          <a:chExt cx="0" cy="0"/>
        </a:xfrm>
      </p:grpSpPr>
      <p:sp>
        <p:nvSpPr>
          <p:cNvPr id="2" name="Text 0"/>
          <p:cNvSpPr/>
          <p:nvPr/>
        </p:nvSpPr>
        <p:spPr>
          <a:xfrm>
            <a:off x="685800" y="2331720"/>
            <a:ext cx="786384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3" name="Text 1"/>
          <p:cNvSpPr/>
          <p:nvPr/>
        </p:nvSpPr>
        <p:spPr>
          <a:xfrm>
            <a:off x="685800" y="3310128"/>
            <a:ext cx="7498080" cy="786384"/>
          </a:xfrm>
          <a:prstGeom prst="rect">
            <a:avLst/>
          </a:prstGeom>
          <a:noFill/>
          <a:ln/>
        </p:spPr>
        <p:txBody>
          <a:bodyPr wrap="square" lIns="0" tIns="0" rIns="0" bIns="0" rtlCol="0" anchor="ctr"/>
          <a:lstStyle/>
          <a:p>
            <a:pPr indent="0" marL="0">
              <a:lnSpc>
                <a:spcPts val="1900"/>
              </a:lnSpc>
              <a:buNone/>
            </a:pPr>
            <a:r>
              <a:rPr lang="en-US" sz="1350" dirty="0">
                <a:solidFill>
                  <a:srgbClr val="97BC62"/>
                </a:solidFill>
                <a:latin typeface="Calibri" pitchFamily="34" charset="0"/>
                <a:ea typeface="Calibri" pitchFamily="34" charset="-122"/>
                <a:cs typeface="Calibri" pitchFamily="34" charset="-120"/>
              </a:rPr>
              <a:t>Questions and deep-dives welcome — the underlying workbook is fully auditable, and the interactive dashboard lets leadership explore any period, metric or scenario directly.</a:t>
            </a:r>
            <a:endParaRPr lang="en-US" sz="1350" dirty="0"/>
          </a:p>
        </p:txBody>
      </p:sp>
      <p:sp>
        <p:nvSpPr>
          <p:cNvPr id="4" name="Shape 2"/>
          <p:cNvSpPr/>
          <p:nvPr/>
        </p:nvSpPr>
        <p:spPr>
          <a:xfrm>
            <a:off x="713232" y="4617720"/>
            <a:ext cx="82296" cy="841248"/>
          </a:xfrm>
          <a:prstGeom prst="roundRect">
            <a:avLst>
              <a:gd name="adj" fmla="val 50000"/>
            </a:avLst>
          </a:prstGeom>
          <a:solidFill>
            <a:srgbClr val="97BC62"/>
          </a:solidFill>
          <a:ln w="12700">
            <a:solidFill>
              <a:srgbClr val="333333"/>
            </a:solidFill>
            <a:prstDash val="solid"/>
          </a:ln>
        </p:spPr>
      </p:sp>
      <p:sp>
        <p:nvSpPr>
          <p:cNvPr id="5" name="Shape 3"/>
          <p:cNvSpPr/>
          <p:nvPr/>
        </p:nvSpPr>
        <p:spPr>
          <a:xfrm>
            <a:off x="1115568" y="4617720"/>
            <a:ext cx="82296" cy="841248"/>
          </a:xfrm>
          <a:prstGeom prst="roundRect">
            <a:avLst>
              <a:gd name="adj" fmla="val 50000"/>
            </a:avLst>
          </a:prstGeom>
          <a:solidFill>
            <a:srgbClr val="3E7B31"/>
          </a:solidFill>
          <a:ln w="12700">
            <a:solidFill>
              <a:srgbClr val="333333"/>
            </a:solidFill>
            <a:prstDash val="solid"/>
          </a:ln>
        </p:spPr>
      </p:sp>
      <p:sp>
        <p:nvSpPr>
          <p:cNvPr id="6" name="Shape 4"/>
          <p:cNvSpPr/>
          <p:nvPr/>
        </p:nvSpPr>
        <p:spPr>
          <a:xfrm>
            <a:off x="1517904" y="4617720"/>
            <a:ext cx="82296" cy="841248"/>
          </a:xfrm>
          <a:prstGeom prst="roundRect">
            <a:avLst>
              <a:gd name="adj" fmla="val 50000"/>
            </a:avLst>
          </a:prstGeom>
          <a:solidFill>
            <a:srgbClr val="97BC62"/>
          </a:solidFill>
          <a:ln w="12700">
            <a:solidFill>
              <a:srgbClr val="333333"/>
            </a:solidFill>
            <a:prstDash val="solid"/>
          </a:ln>
        </p:spPr>
      </p:sp>
      <p:sp>
        <p:nvSpPr>
          <p:cNvPr id="7" name="Shape 5"/>
          <p:cNvSpPr/>
          <p:nvPr/>
        </p:nvSpPr>
        <p:spPr>
          <a:xfrm>
            <a:off x="1920240" y="4617720"/>
            <a:ext cx="82296" cy="841248"/>
          </a:xfrm>
          <a:prstGeom prst="roundRect">
            <a:avLst>
              <a:gd name="adj" fmla="val 50000"/>
            </a:avLst>
          </a:prstGeom>
          <a:solidFill>
            <a:srgbClr val="3E7B31"/>
          </a:solidFill>
          <a:ln w="12700">
            <a:solidFill>
              <a:srgbClr val="333333"/>
            </a:solidFill>
            <a:prstDash val="solid"/>
          </a:ln>
        </p:spPr>
      </p:sp>
      <p:sp>
        <p:nvSpPr>
          <p:cNvPr id="8" name="Shape 6"/>
          <p:cNvSpPr/>
          <p:nvPr/>
        </p:nvSpPr>
        <p:spPr>
          <a:xfrm>
            <a:off x="2322576" y="4617720"/>
            <a:ext cx="82296" cy="841248"/>
          </a:xfrm>
          <a:prstGeom prst="roundRect">
            <a:avLst>
              <a:gd name="adj" fmla="val 50000"/>
            </a:avLst>
          </a:prstGeom>
          <a:solidFill>
            <a:srgbClr val="97BC62"/>
          </a:solidFill>
          <a:ln w="12700">
            <a:solidFill>
              <a:srgbClr val="333333"/>
            </a:solidFill>
            <a:prstDash val="solid"/>
          </a:ln>
        </p:spPr>
      </p:sp>
      <p:sp>
        <p:nvSpPr>
          <p:cNvPr id="9" name="Shape 7"/>
          <p:cNvSpPr/>
          <p:nvPr/>
        </p:nvSpPr>
        <p:spPr>
          <a:xfrm>
            <a:off x="2724912" y="4617720"/>
            <a:ext cx="82296" cy="841248"/>
          </a:xfrm>
          <a:prstGeom prst="roundRect">
            <a:avLst>
              <a:gd name="adj" fmla="val 50000"/>
            </a:avLst>
          </a:prstGeom>
          <a:solidFill>
            <a:srgbClr val="3E7B31"/>
          </a:solidFill>
          <a:ln w="12700">
            <a:solidFill>
              <a:srgbClr val="333333"/>
            </a:solidFill>
            <a:prstDash val="solid"/>
          </a:ln>
        </p:spPr>
      </p:sp>
      <p:sp>
        <p:nvSpPr>
          <p:cNvPr id="10" name="Text 8"/>
          <p:cNvSpPr/>
          <p:nvPr/>
        </p:nvSpPr>
        <p:spPr>
          <a:xfrm>
            <a:off x="8549640" y="1783080"/>
            <a:ext cx="3017520" cy="457200"/>
          </a:xfrm>
          <a:prstGeom prst="rect">
            <a:avLst/>
          </a:prstGeom>
          <a:noFill/>
          <a:ln/>
        </p:spPr>
        <p:txBody>
          <a:bodyPr wrap="square" lIns="0" tIns="0" rIns="0" bIns="0" rtlCol="0" anchor="ctr"/>
          <a:lstStyle/>
          <a:p>
            <a:pPr indent="0" marL="0">
              <a:buNone/>
            </a:pPr>
            <a:r>
              <a:rPr lang="en-US" sz="2500" b="1" dirty="0">
                <a:solidFill>
                  <a:srgbClr val="D9A521"/>
                </a:solidFill>
                <a:latin typeface="Cambria" pitchFamily="34" charset="0"/>
                <a:ea typeface="Cambria" pitchFamily="34" charset="-122"/>
                <a:cs typeface="Cambria" pitchFamily="34" charset="-120"/>
              </a:rPr>
              <a:t>0.018</a:t>
            </a:r>
            <a:endParaRPr lang="en-US" sz="2500" dirty="0"/>
          </a:p>
        </p:txBody>
      </p:sp>
      <p:sp>
        <p:nvSpPr>
          <p:cNvPr id="11" name="Text 9"/>
          <p:cNvSpPr/>
          <p:nvPr/>
        </p:nvSpPr>
        <p:spPr>
          <a:xfrm>
            <a:off x="8549640" y="2258568"/>
            <a:ext cx="3017520" cy="457200"/>
          </a:xfrm>
          <a:prstGeom prst="rect">
            <a:avLst/>
          </a:prstGeom>
          <a:noFill/>
          <a:ln/>
        </p:spPr>
        <p:txBody>
          <a:bodyPr wrap="square" lIns="0" tIns="0" rIns="0" bIns="0" rtlCol="0" anchor="ctr"/>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MSP ~ production, detrended</a:t>
            </a:r>
            <a:endParaRPr lang="en-US" sz="1050" dirty="0"/>
          </a:p>
        </p:txBody>
      </p:sp>
      <p:sp>
        <p:nvSpPr>
          <p:cNvPr id="12" name="Text 10"/>
          <p:cNvSpPr/>
          <p:nvPr/>
        </p:nvSpPr>
        <p:spPr>
          <a:xfrm>
            <a:off x="8549640" y="3108960"/>
            <a:ext cx="3017520" cy="457200"/>
          </a:xfrm>
          <a:prstGeom prst="rect">
            <a:avLst/>
          </a:prstGeom>
          <a:noFill/>
          <a:ln/>
        </p:spPr>
        <p:txBody>
          <a:bodyPr wrap="square" lIns="0" tIns="0" rIns="0" bIns="0" rtlCol="0" anchor="ctr"/>
          <a:lstStyle/>
          <a:p>
            <a:pPr indent="0" marL="0">
              <a:buNone/>
            </a:pPr>
            <a:r>
              <a:rPr lang="en-US" sz="2500" b="1" dirty="0">
                <a:solidFill>
                  <a:srgbClr val="D9A521"/>
                </a:solidFill>
                <a:latin typeface="Cambria" pitchFamily="34" charset="0"/>
                <a:ea typeface="Cambria" pitchFamily="34" charset="-122"/>
                <a:cs typeface="Cambria" pitchFamily="34" charset="-120"/>
              </a:rPr>
              <a:t>48.1%</a:t>
            </a:r>
            <a:endParaRPr lang="en-US" sz="2500" dirty="0"/>
          </a:p>
        </p:txBody>
      </p:sp>
      <p:sp>
        <p:nvSpPr>
          <p:cNvPr id="13" name="Text 11"/>
          <p:cNvSpPr/>
          <p:nvPr/>
        </p:nvSpPr>
        <p:spPr>
          <a:xfrm>
            <a:off x="8549640" y="3584448"/>
            <a:ext cx="3017520" cy="457200"/>
          </a:xfrm>
          <a:prstGeom prst="rect">
            <a:avLst/>
          </a:prstGeom>
          <a:noFill/>
          <a:ln/>
        </p:spPr>
        <p:txBody>
          <a:bodyPr wrap="square" lIns="0" tIns="0" rIns="0" bIns="0" rtlCol="0" anchor="ctr"/>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of recent growth is land, not yield</a:t>
            </a:r>
            <a:endParaRPr lang="en-US" sz="1050" dirty="0"/>
          </a:p>
        </p:txBody>
      </p:sp>
      <p:sp>
        <p:nvSpPr>
          <p:cNvPr id="14" name="Text 12"/>
          <p:cNvSpPr/>
          <p:nvPr/>
        </p:nvSpPr>
        <p:spPr>
          <a:xfrm>
            <a:off x="8549640" y="4434840"/>
            <a:ext cx="3017520" cy="457200"/>
          </a:xfrm>
          <a:prstGeom prst="rect">
            <a:avLst/>
          </a:prstGeom>
          <a:noFill/>
          <a:ln/>
        </p:spPr>
        <p:txBody>
          <a:bodyPr wrap="square" lIns="0" tIns="0" rIns="0" bIns="0" rtlCol="0" anchor="ctr"/>
          <a:lstStyle/>
          <a:p>
            <a:pPr indent="0" marL="0">
              <a:buNone/>
            </a:pPr>
            <a:r>
              <a:rPr lang="en-US" sz="2500" b="1" dirty="0">
                <a:solidFill>
                  <a:srgbClr val="D9A521"/>
                </a:solidFill>
                <a:latin typeface="Cambria" pitchFamily="34" charset="0"/>
                <a:ea typeface="Cambria" pitchFamily="34" charset="-122"/>
                <a:cs typeface="Cambria" pitchFamily="34" charset="-120"/>
              </a:rPr>
              <a:t>1,411-1,667</a:t>
            </a:r>
            <a:endParaRPr lang="en-US" sz="2500" dirty="0"/>
          </a:p>
        </p:txBody>
      </p:sp>
      <p:sp>
        <p:nvSpPr>
          <p:cNvPr id="15" name="Text 13"/>
          <p:cNvSpPr/>
          <p:nvPr/>
        </p:nvSpPr>
        <p:spPr>
          <a:xfrm>
            <a:off x="8549640" y="4910328"/>
            <a:ext cx="3017520" cy="457200"/>
          </a:xfrm>
          <a:prstGeom prst="rect">
            <a:avLst/>
          </a:prstGeom>
          <a:noFill/>
          <a:ln/>
        </p:spPr>
        <p:txBody>
          <a:bodyPr wrap="square" lIns="0" tIns="0" rIns="0" bIns="0" rtlCol="0" anchor="ctr"/>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2026-27 production, 80% band</a:t>
            </a:r>
            <a:endParaRPr lang="en-US" sz="1050" dirty="0"/>
          </a:p>
        </p:txBody>
      </p:sp>
      <p:sp>
        <p:nvSpPr>
          <p:cNvPr id="16" name="Text 14"/>
          <p:cNvSpPr/>
          <p:nvPr/>
        </p:nvSpPr>
        <p:spPr>
          <a:xfrm>
            <a:off x="685800" y="6144768"/>
            <a:ext cx="10789920" cy="274320"/>
          </a:xfrm>
          <a:prstGeom prst="rect">
            <a:avLst/>
          </a:prstGeom>
          <a:noFill/>
          <a:ln/>
        </p:spPr>
        <p:txBody>
          <a:bodyPr wrap="square" lIns="0" tIns="0" rIns="0" bIns="0" rtlCol="0" anchor="ctr"/>
          <a:lstStyle/>
          <a:p>
            <a:pPr indent="0" marL="0">
              <a:buNone/>
            </a:pPr>
            <a:r>
              <a:rPr lang="en-US" sz="900" i="1" dirty="0">
                <a:solidFill>
                  <a:srgbClr val="97BC62"/>
                </a:solidFill>
                <a:latin typeface="Calibri" pitchFamily="34" charset="0"/>
                <a:ea typeface="Calibri" pitchFamily="34" charset="-122"/>
                <a:cs typeface="Calibri" pitchFamily="34" charset="-120"/>
              </a:rPr>
              <a:t>Dattansh 26  |  All-India rice, 1950-51 to 2026-27  |  Ministry of Agriculture &amp; Farmers Welfare / CACP</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2026-08-21T12:22:55Z</dcterms:created>
  <dcterms:modified xsi:type="dcterms:W3CDTF">2026-08-21T12:22:55Z</dcterms:modified>
</cp:coreProperties>
</file>